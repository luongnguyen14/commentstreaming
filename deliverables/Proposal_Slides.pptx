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3" r:id="rId1"/>
  </p:sldMasterIdLst>
  <p:notesMasterIdLst>
    <p:notesMasterId r:id="rId6"/>
  </p:notesMasterIdLst>
  <p:sldIdLst>
    <p:sldId id="790" r:id="rId2"/>
    <p:sldId id="792" r:id="rId4"/>
    <p:sldId id="793" r:id="rId28"/>
    <p:sldId id="794" r:id="rId29"/>
    <p:sldId id="795" r:id="rId30"/>
  </p:sldIdLst>
  <p:sldSz cx="9902825" cy="6858000"/>
  <p:notesSz cx="6858000" cy="9144000"/>
  <p:embeddedFontLst>
    <p:embeddedFont>
      <p:font typeface="Samsung Sharp Sans Bold" pitchFamily="2" charset="0"/>
      <p:bold r:id="rId7"/>
    </p:embeddedFont>
    <p:embeddedFont>
      <p:font typeface="Samsung Sharp Sans" pitchFamily="2" charset="0"/>
      <p:bold r:id="rId8"/>
    </p:embeddedFont>
    <p:embeddedFont>
      <p:font typeface="SamsungOneKorean 400" panose="020B0503030303020204" pitchFamily="50" charset="-127"/>
      <p:regular r:id="rId9"/>
    </p:embeddedFont>
    <p:embeddedFont>
      <p:font typeface="맑은 고딕" panose="020B0503020000020004" pitchFamily="50" charset="-127"/>
      <p:regular r:id="rId10"/>
      <p:bold r:id="rId11"/>
    </p:embeddedFont>
    <p:embeddedFont>
      <p:font typeface="SamsungOne 700" panose="020B0803030303020204" pitchFamily="34" charset="0"/>
      <p:bold r:id="rId12"/>
    </p:embeddedFont>
    <p:embeddedFont>
      <p:font typeface="SamsungOne 400C" panose="020B0506030303020204" pitchFamily="34" charset="0"/>
      <p:regular r:id="rId13"/>
    </p:embeddedFont>
    <p:embeddedFont>
      <p:font typeface="Samsung Sharp Sans Medium" pitchFamily="2" charset="0"/>
      <p:bold r:id="rId14"/>
    </p:embeddedFont>
    <p:embeddedFont>
      <p:font typeface="Calibri" panose="020F0502020204030204" pitchFamily="34" charset="0"/>
      <p:regular r:id="rId15"/>
      <p:bold r:id="rId16"/>
      <p:italic r:id="rId17"/>
      <p:boldItalic r:id="rId18"/>
    </p:embeddedFont>
    <p:embeddedFont>
      <p:font typeface="SamsungOne 400" panose="020B0503030303020204" pitchFamily="34" charset="0"/>
      <p:regular r:id="rId19"/>
    </p:embeddedFont>
    <p:embeddedFont>
      <p:font typeface="Arial Unicode MS" panose="020B0604020202020204" pitchFamily="50" charset="-127"/>
      <p:regular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19"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EB0"/>
    <a:srgbClr val="FFB546"/>
    <a:srgbClr val="FF4337"/>
    <a:srgbClr val="00B3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3" autoAdjust="0"/>
    <p:restoredTop sz="72205" autoAdjust="0"/>
  </p:normalViewPr>
  <p:slideViewPr>
    <p:cSldViewPr snapToGrid="0">
      <p:cViewPr>
        <p:scale>
          <a:sx n="110" d="100"/>
          <a:sy n="110" d="100"/>
        </p:scale>
        <p:origin x="1428" y="240"/>
      </p:cViewPr>
      <p:guideLst>
        <p:guide pos="3119"/>
        <p:guide orient="horz" pos="2160"/>
      </p:guideLst>
    </p:cSldViewPr>
  </p:slideViewPr>
  <p:notesTextViewPr>
    <p:cViewPr>
      <p:scale>
        <a:sx n="125" d="100"/>
        <a:sy n="12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font" Target="fonts/font1.fntdata"/><Relationship Id="rId8" Type="http://schemas.openxmlformats.org/officeDocument/2006/relationships/font" Target="fonts/font2.fntdata"/><Relationship Id="rId9" Type="http://schemas.openxmlformats.org/officeDocument/2006/relationships/font" Target="fonts/font3.fntdata"/><Relationship Id="rId10" Type="http://schemas.openxmlformats.org/officeDocument/2006/relationships/font" Target="fonts/font4.fntdata"/><Relationship Id="rId11" Type="http://schemas.openxmlformats.org/officeDocument/2006/relationships/font" Target="fonts/font5.fntdata"/><Relationship Id="rId12" Type="http://schemas.openxmlformats.org/officeDocument/2006/relationships/font" Target="fonts/font6.fntdata"/><Relationship Id="rId13" Type="http://schemas.openxmlformats.org/officeDocument/2006/relationships/font" Target="fonts/font7.fntdata"/><Relationship Id="rId14" Type="http://schemas.openxmlformats.org/officeDocument/2006/relationships/font" Target="fonts/font8.fntdata"/><Relationship Id="rId15" Type="http://schemas.openxmlformats.org/officeDocument/2006/relationships/font" Target="fonts/font9.fntdata"/><Relationship Id="rId16" Type="http://schemas.openxmlformats.org/officeDocument/2006/relationships/font" Target="fonts/font10.fntdata"/><Relationship Id="rId17" Type="http://schemas.openxmlformats.org/officeDocument/2006/relationships/font" Target="fonts/font11.fntdata"/><Relationship Id="rId18" Type="http://schemas.openxmlformats.org/officeDocument/2006/relationships/font" Target="fonts/font12.fntdata"/><Relationship Id="rId19" Type="http://schemas.openxmlformats.org/officeDocument/2006/relationships/font" Target="fonts/font13.fntdata"/><Relationship Id="rId20" Type="http://schemas.openxmlformats.org/officeDocument/2006/relationships/font" Target="fonts/font14.fnt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customXml" Target="../customXml/item1.xml"/><Relationship Id="rId26" Type="http://schemas.openxmlformats.org/officeDocument/2006/relationships/customXml" Target="../customXml/item2.xml"/><Relationship Id="rId27" Type="http://schemas.openxmlformats.org/officeDocument/2006/relationships/customXml" Target="../customXml/item3.xml"/><Relationship Id="rId28" Type="http://schemas.openxmlformats.org/officeDocument/2006/relationships/slide" Target="slides/slide5.xml"/><Relationship Id="rId29" Type="http://schemas.openxmlformats.org/officeDocument/2006/relationships/slide" Target="slides/slide6.xml"/><Relationship Id="rId30"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57C17-E6FD-4AF5-A787-31E9CCE99A85}" type="datetimeFigureOut">
              <a:rPr lang="ko-KR" altLang="en-US" smtClean="0"/>
              <a:t>2023-09-05</a:t>
            </a:fld>
            <a:endParaRPr lang="ko-KR" altLang="en-US" dirty="0"/>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59C55F-00F1-4985-9065-F2D92AE05D03}" type="slidenum">
              <a:rPr lang="ko-KR" altLang="en-US" smtClean="0"/>
              <a:t>‹#›</a:t>
            </a:fld>
            <a:endParaRPr lang="ko-KR" altLang="en-US" dirty="0"/>
          </a:p>
        </p:txBody>
      </p:sp>
    </p:spTree>
    <p:extLst>
      <p:ext uri="{BB962C8B-B14F-4D97-AF65-F5344CB8AC3E}">
        <p14:creationId xmlns:p14="http://schemas.microsoft.com/office/powerpoint/2010/main" val="9912534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Team 6. Our project is SentimentGuard — real-time sentiment classification of live chat comments, built to detect harmful comment spikes early.</a:t>
            </a:r>
          </a:p>
          <a:p/>
          <a:p>
            <a:r>
              <a:t>Let me start with the problem. A livestream chat is not a slow mailbox — it is a firehose. During a busy session, thousands of comments arrive, far faster than one person can read. When a harmful spike starts — harassment, hate, or coordinated spam — the streamer usually notices only after the damage is done. Commercial moderation tools exist, but they cost money, and the people who need them most — solo streamers and small educational or public-service channels — cannot afford a moderation team.</a:t>
            </a:r>
          </a:p>
          <a:p/>
          <a:p>
            <a:r>
              <a:t>So our goal is concrete: detect a spike of negative comments within seconds and warn the streamer while the session is still live, so they can slow the chat, enable moderation mode, or step away.</a:t>
            </a:r>
          </a:p>
          <a:p/>
          <a:p>
            <a:r>
              <a:t>Why this belongs to Technology for Good. First, the beneficiary is the public, not a company: the people who gain are small creators and their communities, and no product is being sold. Second, the cost of failure is personal: sustained harassment pushes creators to end streams, close their comments, or stop streaming altogether — that is a mental-health issue, not just a moderation backlog. Third, existing tooling leaves exactly this gap: large channels hire moderation teams or buy subscription services, while a solo streamer has neither, and self-hosted tools that watch comment sentiment over time and raise a spike warning are rare. And because our tool runs on the streamer's own machine, no chat data leaves it.</a:t>
            </a:r>
          </a:p>
          <a:p/>
          <a:p>
            <a:r>
              <a:t>To be concrete about what we are not claiming: we are not building a system that perfectly reads and judges every comment — that is beyond today's models, and beyond ours. We are building a system that notices when the conversation turns sharply negative, and tells the streamer in time to act.</a:t>
            </a:r>
          </a:p>
          <a:p/>
          <a:p>
            <a:r>
              <a:t>Next, I will show the data and the architecture we use to make this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data and the architecture. First, an honest statement about the data.</a:t>
            </a:r>
          </a:p>
          <a:p/>
          <a:p>
            <a:r>
              <a:t>Live chat with sentiment labels is not publicly available, and platform terms restrict keeping user comments. So we train the model on a public dataset — the IMDb review dataset under CC0, about one million reviews — and we derive three classes, negative, neutral and positive, from the 1-to-10 star ratings. We always call these rating-derived labels, never original labels, because a 3-star review is not literally a 'neutral' sentiment.</a:t>
            </a:r>
          </a:p>
          <a:p/>
          <a:p>
            <a:r>
              <a:t>The live stream itself is simulated: we replay the dataset through Kafka. This is a replay, not a real livestream, and we say so everywhere. In the stream, records carry bursts and deliberately late arrivals so that our event-time windows and watermarks are actually exercised, and bad records are not dropped silently — they go to a dead-letter queue with a reason.</a:t>
            </a:r>
          </a:p>
          <a:p/>
          <a:p>
            <a:r>
              <a:t>One rule we keep strictly: labels never travel with the stream. They are stored separately and joined back by comment ID only for evaluation. Training and streaming also share exactly one text-cleaning module, so they cannot drift apart.</a:t>
            </a:r>
          </a:p>
          <a:p/>
          <a:p>
            <a:r>
              <a:t>Architecture, left to right: a replay producer reads the dataset at a configurable rate and publishes JSON to the Kafka topic comments_raw. Spark Structured Streaming parses with an explicit schema, cleans the text, and aggregates per one-minute event-time windows with a watermark; invalid records branch to the dead-letter queue. A Spark ML pipeline — tokenizer, stop-word removal, n-grams and TF-IDF with a linear model — scores every comment. Results feed a small Streamlit dashboard that raises an alert when the negative ratio crosses a threshold.</a:t>
            </a:r>
          </a:p>
          <a:p/>
          <a:p>
            <a:r>
              <a:t>Why is there a Kafka broker in the middle, instead of just reading a file? Because we need a real streaming source: the producer can replay at a controlled rate, the buffer absorbs bursts, and the streaming job can be restarted without losing its place. The same topic could later carry real comments without changing anything else in the pipeline. Privacy is handled in the same path: user identifiers are replaced by salted hashes, personal fields are dropped, and the dashboard only ever shows aggregates, never individual comments.</a:t>
            </a:r>
          </a:p>
          <a:p/>
          <a:p>
            <a:r>
              <a:t>On measurement: the streaming job records how long each comment takes from arriving in the topic to being scored, so we can report end-to-end latency as p50, p95 and p99 — honest numbers instead of the phrase 'real time'.</a:t>
            </a:r>
          </a:p>
          <a:p/>
          <a:p>
            <a:r>
              <a:t>Everything runs locally on commodity hardware: Kafka, Spark and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 we expect by the end, and what is new here?</a:t>
            </a:r>
          </a:p>
          <a:p/>
          <a:p>
            <a:r>
              <a:t>The deliverable is a prototype that classifies comments into negative, neutral and positive in near real time, and — this is the point — raises an alert within seconds when a harmful spike starts. We will report end-to-end latency at p50, p95 and p99, and model quality as macro-F1 with per-class precision, recall and F1. We deliberately avoid reporting accuracy alone, because with imbalanced data accuracy hides weak classes.</a:t>
            </a:r>
          </a:p>
          <a:p/>
          <a:p>
            <a:r>
              <a:t>Two things we believe are genuinely different from a plain sentiment demo. First, the product unit is a spike, not a label: we aggregate per time window and detect a rising negative ratio, which is what a streamer can actually act on. Second, training and streaming share exactly one cleaning implementation and one pipeline definition, so the classic train/serve drift cannot happen silently.</a:t>
            </a:r>
          </a:p>
          <a:p/>
          <a:p>
            <a:r>
              <a:t>Now the honest part, because we prefer clear limits to inflated claims. Our labels are derived from ratings, not from chat. Reviews are longer and better written than live chat, so there is a domain shift — a model that scores 0.85 on reviews will not score 0.85 on chat. Sarcasm remains hard. And our stream is a replay, not a real livestream; results from replayed data will always be labelled as such. Whatever we have not measured, we will mark as not yet verified rather than guess.</a:t>
            </a:r>
          </a:p>
          <a:p/>
          <a:p>
            <a:r>
              <a:t>How will we know it works? Three measurable checks, all reported as numbers rather than adjectives: the alert fires within a few seconds of a simulated spike; the model's weak classes are visible in per-class metrics instead of being hidden by accuracy; and throughput and latency are measured under bursts and across a restart. If a number is bad, it goes into the report as it is — we would rather show an honest weak result than an invented strong one.</a:t>
            </a:r>
          </a:p>
          <a:p/>
          <a:p>
            <a:r>
              <a:t>On maturity: a prototype assembled from real components and validated in a simulated environment is exactly TRL 5. Going further would need real users and real livestream data, which we deliberately do not touch for privacy and platform-terms reasons — and we will say this clearly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who does what and when.</a:t>
            </a:r>
          </a:p>
          <a:p/>
          <a:p>
            <a:r>
              <a:t>Every member owns one span of the pipeline end to end, so responsibility is clear. Vàng A Ký leads the team and owns integration and testing. Nguyễn Đình Bằng owns Kafka: the broker, the topics, the replay producer and the ingestion throughput measurements. Vàng Thị Dẳm owns the streaming side: the Structured Streaming job, event-time windows, watermarks and the fault-tolerance test. Dương Thị Hạnh owns the data and the model: preparation, deduplication, the Spark ML pipeline and the final evaluation. Ngô Lương Nguyên owns everything the audience sees: SQL queries, figures and the Streamlit dashboard with the alert threshold.</a:t>
            </a:r>
          </a:p>
          <a:p/>
          <a:p>
            <a:r>
              <a:t>The schedule follows the three phases in our WBS. Phase 1, days one to five, is planning — and this presentation is its last item. Phase 2, days six to eleven, builds the prototype: Kafka and streaming, training data, the model, and the dashboard, finishing with the prototype showing. Phase 3, days twelve to twenty, is refinement: throughput benchmarks, the restart test, model tuning, the usage scenario, and finally the report and presentation.</a:t>
            </a:r>
          </a:p>
          <a:p/>
          <a:p>
            <a:r>
              <a:t>The WBS is reviewed three times, on Day 9, 14 and 19, and we update task status as we go — the workbook you have reflects the real state, not an ideal one.</a:t>
            </a:r>
          </a:p>
          <a:p/>
          <a:p>
            <a:r>
              <a:t>Two things about how we work as a team, because the evaluation also looks at project management. First, every deliverable in this plan is committed to git with a dated progress log, so the history shows what was done and when — the WBS status you see is the real status, including the parts that slipped. Second, we have a documented answer to the resource risk: the machine has 7 GB of RAM, so we cap Spark's memory, limit partitions and the replay rate, and we measure how far the machine can actually go instead of assuming.</a:t>
            </a:r>
          </a:p>
          <a:p/>
          <a:p>
            <a:r>
              <a:t>To sum up: a clear problem, an honest data strategy, a pipeline we can build in the time we have, and results that will be reported exactly as measured.</a:t>
            </a:r>
          </a:p>
          <a:p/>
          <a:p>
            <a:r>
              <a:t>That is our proposal. Thank you — we are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Team 6, and this is SentimentGuard — real-time sentiment classification of live chat comments, built to detect harmful comment spikes early.</a:t>
            </a:r>
          </a:p>
          <a:p/>
          <a:p>
            <a:r>
              <a:t>The team: Vàng A Ký, our team leader, who coordinates the project and integration testing. Nguyễn Đình Bằng, our Kafka and data engineer. Vàng Thị Dẳm, our streaming engineer. Dương Thị Hạnh, our machine learning engineer. And Ngô Lương Nguyên, our data analyst and dashboard developer.</a:t>
            </a:r>
          </a:p>
          <a:p/>
          <a:p>
            <a:r>
              <a:t>The name SentimentGuard says what the project does: sentiment analysis used as a guard for the community. The point is to protect people — the streamer and the audience — not to sell anything.</a:t>
            </a:r>
          </a:p>
          <a:p/>
          <a:p>
            <a:r>
              <a:t>In the next four slides we will cover the problem and why it matters for the community, the data and the architecture, what we expect to deliver and what is genuinely new, and finally the roles and the schedule.</a:t>
            </a:r>
          </a:p>
          <a:p/>
          <a:p>
            <a:r>
              <a:t>One note before we start, because honesty is a rule for us: our working stream is a replay of a public dataset through Kafka — it is not a real livestream — and wherever a result comes from this simulation we will label it as simulation.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 xmlns:a16="http://schemas.microsoft.com/office/drawing/2014/main" id="{CCEC8F59-794B-4743-A6D7-1BC9720006CB}"/>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SentimentGuard</a:t>
            </a:r>
          </a:p>
        </p:txBody>
      </p:sp>
    </p:spTree>
    <p:extLst>
      <p:ext uri="{BB962C8B-B14F-4D97-AF65-F5344CB8AC3E}">
        <p14:creationId xmlns:p14="http://schemas.microsoft.com/office/powerpoint/2010/main" val="3956667998"/>
      </p:ext>
    </p:extLst>
  </p:cSld>
  <p:clrMapOvr>
    <a:masterClrMapping/>
  </p:clrMapOvr>
  <p:extLst>
    <p:ext uri="{DCECCB84-F9BA-43D5-87BE-67443E8EF086}">
      <p15:sldGuideLst xmlns:p15="http://schemas.microsoft.com/office/powerpoint/2012/main">
        <p15:guide id="2" pos="285">
          <p15:clr>
            <a:srgbClr val="FBAE40"/>
          </p15:clr>
        </p15:guide>
        <p15:guide id="3" pos="595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6" name="Freeform 5">
            <a:extLst>
              <a:ext uri="{FF2B5EF4-FFF2-40B4-BE49-F238E27FC236}">
                <a16:creationId xmlns=""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
        <p:nvSpPr>
          <p:cNvPr id="7" name="직사각형 133">
            <a:extLst>
              <a:ext uri="{FF2B5EF4-FFF2-40B4-BE49-F238E27FC236}">
                <a16:creationId xmlns="" xmlns:a16="http://schemas.microsoft.com/office/drawing/2014/main" id="{DE8CAD59-3F29-4FBB-AE0A-697DDFD5E69E}"/>
              </a:ext>
            </a:extLst>
          </p:cNvPr>
          <p:cNvSpPr/>
          <p:nvPr userDrawn="1"/>
        </p:nvSpPr>
        <p:spPr>
          <a:xfrm>
            <a:off x="990000" y="4320000"/>
            <a:ext cx="583252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914400" latinLnBrk="1">
              <a:defRPr/>
            </a:pPr>
            <a:r>
              <a:rPr lang="en-US" altLang="ko-KR" sz="2400" dirty="0">
                <a:solidFill>
                  <a:srgbClr val="1428A0"/>
                </a:solidFill>
                <a:latin typeface="Samsung Sharp Sans" pitchFamily="2" charset="0"/>
                <a:ea typeface="Samsung Sharp Sans" pitchFamily="2" charset="0"/>
                <a:cs typeface="Samsung Sharp Sans" pitchFamily="2" charset="0"/>
              </a:rPr>
              <a:t>Big</a:t>
            </a:r>
            <a:r>
              <a:rPr lang="ko-KR" altLang="en-US" sz="2400" dirty="0">
                <a:solidFill>
                  <a:srgbClr val="1428A0"/>
                </a:solidFill>
                <a:latin typeface="Samsung Sharp Sans" pitchFamily="2" charset="0"/>
                <a:ea typeface="Samsung Sharp Sans" pitchFamily="2" charset="0"/>
                <a:cs typeface="Samsung Sharp Sans" pitchFamily="2" charset="0"/>
              </a:rPr>
              <a:t> </a:t>
            </a:r>
            <a:r>
              <a:rPr lang="en-US" altLang="ko-KR" sz="2400" dirty="0">
                <a:solidFill>
                  <a:srgbClr val="1428A0"/>
                </a:solidFill>
                <a:latin typeface="Samsung Sharp Sans" pitchFamily="2" charset="0"/>
                <a:ea typeface="Samsung Sharp Sans" pitchFamily="2" charset="0"/>
                <a:cs typeface="Samsung Sharp Sans" pitchFamily="2" charset="0"/>
              </a:rPr>
              <a:t>Data</a:t>
            </a:r>
            <a:r>
              <a:rPr lang="ko-KR" altLang="en-US" sz="2400" dirty="0">
                <a:solidFill>
                  <a:srgbClr val="1428A0"/>
                </a:solidFill>
                <a:latin typeface="Samsung Sharp Sans" pitchFamily="2" charset="0"/>
                <a:ea typeface="Samsung Sharp Sans" pitchFamily="2" charset="0"/>
                <a:cs typeface="Samsung Sharp Sans" pitchFamily="2" charset="0"/>
              </a:rPr>
              <a:t> </a:t>
            </a:r>
            <a:r>
              <a:rPr lang="en-US" altLang="ko-KR" sz="2400" dirty="0">
                <a:solidFill>
                  <a:srgbClr val="1428A0"/>
                </a:solidFill>
                <a:latin typeface="Samsung Sharp Sans" pitchFamily="2" charset="0"/>
                <a:ea typeface="Samsung Sharp Sans" pitchFamily="2" charset="0"/>
                <a:cs typeface="Samsung Sharp Sans" pitchFamily="2" charset="0"/>
              </a:rPr>
              <a:t>Course</a:t>
            </a:r>
            <a:endParaRPr lang="ko-KR" altLang="en-US" sz="2400" dirty="0">
              <a:solidFill>
                <a:srgbClr val="1428A0"/>
              </a:solidFill>
              <a:latin typeface="Samsung Sharp Sans" pitchFamily="2" charset="0"/>
              <a:ea typeface="Samsung Sharp Sans" pitchFamily="2" charset="0"/>
              <a:cs typeface="Samsung Sharp Sans" pitchFamily="2" charset="0"/>
            </a:endParaRPr>
          </a:p>
        </p:txBody>
      </p:sp>
      <p:sp>
        <p:nvSpPr>
          <p:cNvPr id="8" name="직사각형 7">
            <a:extLst>
              <a:ext uri="{FF2B5EF4-FFF2-40B4-BE49-F238E27FC236}">
                <a16:creationId xmlns="" xmlns:a16="http://schemas.microsoft.com/office/drawing/2014/main" id="{86149771-D78D-40D7-8B97-564358008D8D}"/>
              </a:ext>
            </a:extLst>
          </p:cNvPr>
          <p:cNvSpPr/>
          <p:nvPr userDrawn="1"/>
        </p:nvSpPr>
        <p:spPr>
          <a:xfrm>
            <a:off x="724689" y="4320000"/>
            <a:ext cx="54000" cy="360000"/>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11" name="텍스트 개체 틀 18">
            <a:extLst>
              <a:ext uri="{FF2B5EF4-FFF2-40B4-BE49-F238E27FC236}">
                <a16:creationId xmlns="" xmlns:a16="http://schemas.microsoft.com/office/drawing/2014/main" id="{02AC410D-7805-4DA9-915F-991D726861C7}"/>
              </a:ext>
            </a:extLst>
          </p:cNvPr>
          <p:cNvSpPr>
            <a:spLocks noGrp="1"/>
          </p:cNvSpPr>
          <p:nvPr>
            <p:ph type="body" sz="quarter" idx="11" hasCustomPrompt="1"/>
          </p:nvPr>
        </p:nvSpPr>
        <p:spPr>
          <a:xfrm>
            <a:off x="720000" y="3551768"/>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800" dirty="0">
                <a:solidFill>
                  <a:schemeClr val="bg1">
                    <a:lumMod val="50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Team 6</a:t>
            </a:r>
            <a:endParaRPr lang="ko-KR" altLang="en-US" dirty="0"/>
          </a:p>
        </p:txBody>
      </p:sp>
      <p:sp>
        <p:nvSpPr>
          <p:cNvPr id="12" name="제목 2">
            <a:extLst>
              <a:ext uri="{FF2B5EF4-FFF2-40B4-BE49-F238E27FC236}">
                <a16:creationId xmlns="" xmlns:a16="http://schemas.microsoft.com/office/drawing/2014/main" id="{44AF0917-EEBC-44C5-8BA6-F1CA2AFA4B1E}"/>
              </a:ext>
            </a:extLst>
          </p:cNvPr>
          <p:cNvSpPr>
            <a:spLocks noGrp="1"/>
          </p:cNvSpPr>
          <p:nvPr>
            <p:ph type="title" hasCustomPrompt="1"/>
          </p:nvPr>
        </p:nvSpPr>
        <p:spPr>
          <a:xfrm>
            <a:off x="720000" y="1710000"/>
            <a:ext cx="5221019" cy="1477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defRPr lang="ko-KR" altLang="en-US" sz="4800">
                <a:solidFill>
                  <a:schemeClr val="tx1"/>
                </a:solidFill>
                <a:latin typeface="Samsung Sharp Sans" pitchFamily="2" charset="0"/>
                <a:ea typeface="Samsung Sharp Sans" pitchFamily="2" charset="0"/>
                <a:cs typeface="Samsung Sharp Sans" pitchFamily="2" charset="0"/>
              </a:defRPr>
            </a:lvl1pPr>
          </a:lstStyle>
          <a:p>
            <a:pPr marL="0" lvl="0" defTabSz="457200" latinLnBrk="0"/>
            <a:r>
              <a:t>SentimentGuard</a:t>
            </a:r>
            <a:br/>
            <a:r>
              <a:rPr sz="2200"/>
              <a:t>Real-time Sentiment Classification of Live Chat Comments</a:t>
            </a:r>
            <a:endParaRPr lang="ko-KR" altLang="en-US" dirty="0"/>
          </a:p>
        </p:txBody>
      </p:sp>
    </p:spTree>
    <p:extLst>
      <p:ext uri="{BB962C8B-B14F-4D97-AF65-F5344CB8AC3E}">
        <p14:creationId xmlns:p14="http://schemas.microsoft.com/office/powerpoint/2010/main" val="3032291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8" y="0"/>
            <a:ext cx="9902825" cy="6858000"/>
          </a:xfrm>
          <a:prstGeom prst="rect">
            <a:avLst/>
          </a:prstGeom>
        </p:spPr>
      </p:pic>
      <p:cxnSp>
        <p:nvCxnSpPr>
          <p:cNvPr id="12" name="직선 연결선 11">
            <a:extLst>
              <a:ext uri="{FF2B5EF4-FFF2-40B4-BE49-F238E27FC236}">
                <a16:creationId xmlns=""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직사각형 133">
            <a:extLst>
              <a:ext uri="{FF2B5EF4-FFF2-40B4-BE49-F238E27FC236}">
                <a16:creationId xmlns="" xmlns:a16="http://schemas.microsoft.com/office/drawing/2014/main" id="{7A4BCBFF-5289-45FE-BA09-DFF42AF8A347}"/>
              </a:ext>
            </a:extLst>
          </p:cNvPr>
          <p:cNvSpPr/>
          <p:nvPr userDrawn="1"/>
        </p:nvSpPr>
        <p:spPr>
          <a:xfrm>
            <a:off x="990000" y="4157757"/>
            <a:ext cx="2641721" cy="323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200">
              <a:defRPr/>
            </a:pPr>
            <a:r>
              <a:rPr lang="en-US" altLang="ko-KR" sz="2100" dirty="0">
                <a:solidFill>
                  <a:srgbClr val="1428A0"/>
                </a:solidFill>
                <a:latin typeface="Samsung Sharp Sans" pitchFamily="2" charset="0"/>
                <a:ea typeface="Samsung Sharp Sans" pitchFamily="2" charset="0"/>
                <a:cs typeface="Samsung Sharp Sans" pitchFamily="2" charset="0"/>
              </a:rPr>
              <a:t>Big Data Course</a:t>
            </a:r>
            <a:endParaRPr lang="ko-KR" altLang="en-US" sz="2100" dirty="0">
              <a:solidFill>
                <a:srgbClr val="1428A0"/>
              </a:solidFill>
              <a:latin typeface="Samsung Sharp Sans" pitchFamily="2" charset="0"/>
              <a:ea typeface="Samsung Sharp Sans" pitchFamily="2" charset="0"/>
              <a:cs typeface="Samsung Sharp Sans" pitchFamily="2" charset="0"/>
            </a:endParaRPr>
          </a:p>
        </p:txBody>
      </p:sp>
      <p:sp>
        <p:nvSpPr>
          <p:cNvPr id="9" name="직사각형 8">
            <a:extLst>
              <a:ext uri="{FF2B5EF4-FFF2-40B4-BE49-F238E27FC236}">
                <a16:creationId xmlns="" xmlns:a16="http://schemas.microsoft.com/office/drawing/2014/main" id="{4AA6CFBD-D9B3-4245-A68B-1D7EC1CB6F07}"/>
              </a:ext>
            </a:extLst>
          </p:cNvPr>
          <p:cNvSpPr/>
          <p:nvPr userDrawn="1"/>
        </p:nvSpPr>
        <p:spPr>
          <a:xfrm>
            <a:off x="720000" y="2095275"/>
            <a:ext cx="60008" cy="1759369"/>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10" name="직사각형 9">
            <a:extLst>
              <a:ext uri="{FF2B5EF4-FFF2-40B4-BE49-F238E27FC236}">
                <a16:creationId xmlns="" xmlns:a16="http://schemas.microsoft.com/office/drawing/2014/main" id="{1B2EB59A-603F-4715-ABA1-D9DF69D44512}"/>
              </a:ext>
            </a:extLst>
          </p:cNvPr>
          <p:cNvSpPr/>
          <p:nvPr userDrawn="1"/>
        </p:nvSpPr>
        <p:spPr>
          <a:xfrm>
            <a:off x="720000" y="4157757"/>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3" name="제목 2">
            <a:extLst>
              <a:ext uri="{FF2B5EF4-FFF2-40B4-BE49-F238E27FC236}">
                <a16:creationId xmlns="" xmlns:a16="http://schemas.microsoft.com/office/drawing/2014/main" id="{CF6BC111-C555-4B09-8375-33C4F4C2FBB5}"/>
              </a:ext>
            </a:extLst>
          </p:cNvPr>
          <p:cNvSpPr>
            <a:spLocks noGrp="1"/>
          </p:cNvSpPr>
          <p:nvPr>
            <p:ph type="title" hasCustomPrompt="1"/>
          </p:nvPr>
        </p:nvSpPr>
        <p:spPr>
          <a:xfrm>
            <a:off x="990000" y="2095275"/>
            <a:ext cx="5221019" cy="13542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defRPr lang="ko-KR" altLang="en-US" sz="4400">
                <a:solidFill>
                  <a:schemeClr val="tx1"/>
                </a:solidFill>
                <a:latin typeface="Samsung Sharp Sans" pitchFamily="2" charset="0"/>
                <a:ea typeface="Samsung Sharp Sans" pitchFamily="2" charset="0"/>
                <a:cs typeface="Samsung Sharp Sans" pitchFamily="2" charset="0"/>
              </a:defRPr>
            </a:lvl1pPr>
          </a:lstStyle>
          <a:p>
            <a:pPr marL="0" lvl="0" defTabSz="457200" latinLnBrk="0"/>
            <a:r>
              <a:t>SentimentGuard</a:t>
            </a:r>
            <a:br/>
            <a:r>
              <a:rPr sz="2200"/>
              <a:t>Real-time Sentiment Classification of Live Chat Comments</a:t>
            </a:r>
            <a:endParaRPr lang="ko-KR" altLang="en-US" dirty="0"/>
          </a:p>
        </p:txBody>
      </p:sp>
      <p:sp>
        <p:nvSpPr>
          <p:cNvPr id="17" name="텍스트 개체 틀 18">
            <a:extLst>
              <a:ext uri="{FF2B5EF4-FFF2-40B4-BE49-F238E27FC236}">
                <a16:creationId xmlns="" xmlns:a16="http://schemas.microsoft.com/office/drawing/2014/main" id="{CBEAE583-0BAA-455B-9555-B00A4FE8B1C9}"/>
              </a:ext>
            </a:extLst>
          </p:cNvPr>
          <p:cNvSpPr>
            <a:spLocks noGrp="1"/>
          </p:cNvSpPr>
          <p:nvPr>
            <p:ph type="body" sz="quarter" idx="11" hasCustomPrompt="1"/>
          </p:nvPr>
        </p:nvSpPr>
        <p:spPr>
          <a:xfrm>
            <a:off x="990000" y="3577645"/>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800" dirty="0">
                <a:solidFill>
                  <a:schemeClr val="bg1">
                    <a:lumMod val="50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Team 6</a:t>
            </a:r>
            <a:endParaRPr lang="ko-KR" altLang="en-US" dirty="0"/>
          </a:p>
        </p:txBody>
      </p:sp>
    </p:spTree>
    <p:extLst>
      <p:ext uri="{BB962C8B-B14F-4D97-AF65-F5344CB8AC3E}">
        <p14:creationId xmlns:p14="http://schemas.microsoft.com/office/powerpoint/2010/main" val="690312953"/>
      </p:ext>
    </p:extLst>
  </p:cSld>
  <p:clrMapOvr>
    <a:masterClrMapping/>
  </p:clrMapOvr>
  <p:extLst>
    <p:ext uri="{DCECCB84-F9BA-43D5-87BE-67443E8EF086}">
      <p15:sldGuideLst xmlns:p15="http://schemas.microsoft.com/office/powerpoint/2012/main">
        <p15:guide id="1" orient="horz" pos="2614" userDrawn="1">
          <p15:clr>
            <a:srgbClr val="FBAE40"/>
          </p15:clr>
        </p15:guide>
        <p15:guide id="2" pos="443" userDrawn="1">
          <p15:clr>
            <a:srgbClr val="FBAE40"/>
          </p15:clr>
        </p15:guide>
        <p15:guide id="3" pos="5955">
          <p15:clr>
            <a:srgbClr val="FBAE40"/>
          </p15:clr>
        </p15:guide>
        <p15:guide id="4" pos="60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3" name="제목 2">
            <a:extLst>
              <a:ext uri="{FF2B5EF4-FFF2-40B4-BE49-F238E27FC236}">
                <a16:creationId xmlns="" xmlns:a16="http://schemas.microsoft.com/office/drawing/2014/main" id="{4625E1FE-2B04-4D8E-A51A-6B9CEC7B3790}"/>
              </a:ext>
            </a:extLst>
          </p:cNvPr>
          <p:cNvSpPr>
            <a:spLocks noGrp="1"/>
          </p:cNvSpPr>
          <p:nvPr>
            <p:ph type="title" hasCustomPrompt="1"/>
          </p:nvPr>
        </p:nvSpPr>
        <p:spPr>
          <a:xfrm>
            <a:off x="449468" y="1440000"/>
            <a:ext cx="8541187"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spcBef>
                <a:spcPts val="0"/>
              </a:spcBef>
              <a:defRPr lang="ko-KR" altLang="en-US" sz="3200">
                <a:solidFill>
                  <a:schemeClr val="tx1">
                    <a:lumMod val="95000"/>
                    <a:lumOff val="5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Slide Title</a:t>
            </a:r>
            <a:endParaRPr lang="ko-KR" altLang="en-US" dirty="0"/>
          </a:p>
        </p:txBody>
      </p:sp>
      <p:sp>
        <p:nvSpPr>
          <p:cNvPr id="19" name="텍스트 개체 틀 18">
            <a:extLst>
              <a:ext uri="{FF2B5EF4-FFF2-40B4-BE49-F238E27FC236}">
                <a16:creationId xmlns="" xmlns:a16="http://schemas.microsoft.com/office/drawing/2014/main" id="{DFEC8C6A-D95C-4B3C-9803-6F9071BF0C29}"/>
              </a:ext>
            </a:extLst>
          </p:cNvPr>
          <p:cNvSpPr>
            <a:spLocks noGrp="1"/>
          </p:cNvSpPr>
          <p:nvPr>
            <p:ph type="body" sz="quarter" idx="10" hasCustomPrompt="1"/>
          </p:nvPr>
        </p:nvSpPr>
        <p:spPr>
          <a:xfrm>
            <a:off x="449468" y="450000"/>
            <a:ext cx="323896"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No</a:t>
            </a:r>
            <a:endParaRPr lang="ko-KR" altLang="en-US" dirty="0"/>
          </a:p>
        </p:txBody>
      </p:sp>
      <p:sp>
        <p:nvSpPr>
          <p:cNvPr id="20" name="텍스트 개체 틀 18">
            <a:extLst>
              <a:ext uri="{FF2B5EF4-FFF2-40B4-BE49-F238E27FC236}">
                <a16:creationId xmlns="" xmlns:a16="http://schemas.microsoft.com/office/drawing/2014/main" id="{6DA22BCA-E7E2-4377-AD8E-AC1336C3DB31}"/>
              </a:ext>
            </a:extLst>
          </p:cNvPr>
          <p:cNvSpPr>
            <a:spLocks noGrp="1"/>
          </p:cNvSpPr>
          <p:nvPr>
            <p:ph type="body" sz="quarter" idx="11" hasCustomPrompt="1"/>
          </p:nvPr>
        </p:nvSpPr>
        <p:spPr>
          <a:xfrm>
            <a:off x="790000" y="450001"/>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Bold" pitchFamily="2" charset="0"/>
                <a:ea typeface="Samsung Sharp Sans Bold" pitchFamily="2" charset="0"/>
                <a:cs typeface="Samsung Sharp Sans Bold" pitchFamily="2" charset="0"/>
              </a:defRPr>
            </a:lvl1pPr>
          </a:lstStyle>
          <a:p>
            <a:pPr marL="0" lvl="0" defTabSz="457050" latinLnBrk="0"/>
            <a:r>
              <a:rPr lang="en-US" altLang="ko-KR" dirty="0"/>
              <a:t>Subtitle</a:t>
            </a:r>
            <a:endParaRPr lang="ko-KR" altLang="en-US" dirty="0"/>
          </a:p>
        </p:txBody>
      </p:sp>
      <p:sp>
        <p:nvSpPr>
          <p:cNvPr id="21" name="텍스트 개체 틀 18">
            <a:extLst>
              <a:ext uri="{FF2B5EF4-FFF2-40B4-BE49-F238E27FC236}">
                <a16:creationId xmlns="" xmlns:a16="http://schemas.microsoft.com/office/drawing/2014/main" id="{7647BD6A-5F13-45AE-859C-AF2BA0A739E6}"/>
              </a:ext>
            </a:extLst>
          </p:cNvPr>
          <p:cNvSpPr>
            <a:spLocks noGrp="1"/>
          </p:cNvSpPr>
          <p:nvPr>
            <p:ph type="body" sz="quarter" idx="12" hasCustomPrompt="1"/>
          </p:nvPr>
        </p:nvSpPr>
        <p:spPr>
          <a:xfrm>
            <a:off x="9112825" y="480779"/>
            <a:ext cx="340625" cy="246221"/>
          </a:xfrm>
          <a:prstGeom prst="rect">
            <a:avLst/>
          </a:prstGeom>
        </p:spPr>
        <p:txBody>
          <a:bodyPr wrap="square" lIns="0" tIns="0" rIns="0" bIns="0">
            <a:spAutoFit/>
          </a:bodyPr>
          <a:lstStyle>
            <a:lvl1pPr marL="0" indent="0" algn="r">
              <a:lnSpc>
                <a:spcPct val="100000"/>
              </a:lnSpc>
              <a:spcBef>
                <a:spcPts val="0"/>
              </a:spcBef>
              <a:buNone/>
              <a:defRPr lang="ko-KR" altLang="en-US" sz="1600" dirty="0">
                <a:solidFill>
                  <a:schemeClr val="bg1">
                    <a:lumMod val="85000"/>
                  </a:schemeClr>
                </a:solidFill>
                <a:latin typeface="Samsung Sharp Sans Bold" pitchFamily="2" charset="0"/>
                <a:ea typeface="Samsung Sharp Sans Bold" pitchFamily="2" charset="0"/>
                <a:cs typeface="Samsung Sharp Sans Bold" pitchFamily="2" charset="0"/>
              </a:defRPr>
            </a:lvl1pPr>
          </a:lstStyle>
          <a:p>
            <a:pPr marL="0" lvl="0" algn="r" defTabSz="457063" latinLnBrk="0"/>
            <a:r>
              <a:rPr lang="en-US" altLang="ko-KR" dirty="0"/>
              <a:t>00</a:t>
            </a:r>
            <a:endParaRPr lang="ko-KR" altLang="en-US" dirty="0"/>
          </a:p>
        </p:txBody>
      </p:sp>
      <p:sp>
        <p:nvSpPr>
          <p:cNvPr id="23" name="텍스트 개체 틀 18">
            <a:extLst>
              <a:ext uri="{FF2B5EF4-FFF2-40B4-BE49-F238E27FC236}">
                <a16:creationId xmlns="" xmlns:a16="http://schemas.microsoft.com/office/drawing/2014/main" id="{3A9667F7-80AD-4A7A-8543-285975B06BE3}"/>
              </a:ext>
            </a:extLst>
          </p:cNvPr>
          <p:cNvSpPr>
            <a:spLocks noGrp="1"/>
          </p:cNvSpPr>
          <p:nvPr>
            <p:ph type="body" sz="quarter" idx="13" hasCustomPrompt="1"/>
          </p:nvPr>
        </p:nvSpPr>
        <p:spPr>
          <a:xfrm>
            <a:off x="8740667" y="480779"/>
            <a:ext cx="46785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600" dirty="0">
                <a:solidFill>
                  <a:schemeClr val="bg1">
                    <a:lumMod val="85000"/>
                  </a:schemeClr>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UNIT</a:t>
            </a:r>
            <a:endParaRPr lang="ko-KR" altLang="en-US" dirty="0"/>
          </a:p>
        </p:txBody>
      </p:sp>
      <p:sp>
        <p:nvSpPr>
          <p:cNvPr id="16" name="텍스트 개체 틀 7">
            <a:extLst>
              <a:ext uri="{FF2B5EF4-FFF2-40B4-BE49-F238E27FC236}">
                <a16:creationId xmlns="" xmlns:a16="http://schemas.microsoft.com/office/drawing/2014/main" id="{B6D584F0-F100-4FB4-B935-0E81DB1D3B51}"/>
              </a:ext>
            </a:extLst>
          </p:cNvPr>
          <p:cNvSpPr>
            <a:spLocks noGrp="1"/>
          </p:cNvSpPr>
          <p:nvPr>
            <p:ph type="body" sz="quarter" idx="15" hasCustomPrompt="1"/>
          </p:nvPr>
        </p:nvSpPr>
        <p:spPr>
          <a:xfrm>
            <a:off x="522288" y="2221661"/>
            <a:ext cx="8055439" cy="914400"/>
          </a:xfrm>
          <a:prstGeom prst="rect">
            <a:avLst/>
          </a:prstGeom>
        </p:spPr>
        <p:txBody>
          <a:bodyPr lIns="0" tIns="0" rIns="0" bIns="0"/>
          <a:lstStyle>
            <a:lvl1pPr marL="177747" indent="-177747">
              <a:lnSpc>
                <a:spcPts val="1800"/>
              </a:lnSpc>
              <a:buSzPct val="105000"/>
              <a:buFontTx/>
              <a:buBlip>
                <a:blip r:embed="rId3"/>
              </a:buBlip>
              <a:defRPr kumimoji="1" lang="en-US" altLang="ko-KR" sz="1400" kern="120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1pPr>
            <a:lvl2pPr marL="360255" indent="-182508">
              <a:lnSpc>
                <a:spcPts val="1800"/>
              </a:lnSpc>
              <a:buSzPct val="80000"/>
              <a:buFontTx/>
              <a:buBlip>
                <a:blip r:embed="rId4"/>
              </a:buBlip>
              <a:tabLst>
                <a:tab pos="447541" algn="l"/>
              </a:tabLst>
              <a:defRPr lang="en-US" altLang="ko-KR" sz="1300" kern="1200" dirty="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2pPr>
          </a:lstStyle>
          <a:p>
            <a:pPr lvl="0"/>
            <a:r>
              <a:rPr lang="en-US" altLang="ko-KR" dirty="0"/>
              <a:t>Level1</a:t>
            </a:r>
          </a:p>
          <a:p>
            <a:pPr lvl="1"/>
            <a:r>
              <a:rPr lang="en-US" altLang="ko-KR" dirty="0"/>
              <a:t>Level2</a:t>
            </a:r>
          </a:p>
          <a:p>
            <a:pPr lvl="1"/>
            <a:endParaRPr lang="en-US" altLang="ko-KR" dirty="0"/>
          </a:p>
          <a:p>
            <a:pPr marL="628461" lvl="1" indent="-207901" algn="l" defTabSz="843830" rtl="0" eaLnBrk="1" latinLnBrk="1" hangingPunct="1">
              <a:lnSpc>
                <a:spcPct val="90000"/>
              </a:lnSpc>
              <a:spcBef>
                <a:spcPts val="462"/>
              </a:spcBef>
              <a:buSzPct val="90000"/>
              <a:buFontTx/>
              <a:buBlip>
                <a:blip r:embed="rId5"/>
              </a:buBlip>
            </a:pPr>
            <a:endParaRPr lang="en-US" altLang="ko-KR" dirty="0"/>
          </a:p>
          <a:p>
            <a:pPr lvl="1"/>
            <a:endParaRPr lang="ko-KR" altLang="en-US" dirty="0"/>
          </a:p>
        </p:txBody>
      </p:sp>
      <p:sp>
        <p:nvSpPr>
          <p:cNvPr id="17" name="슬라이드 번호 개체 틀 15">
            <a:extLst>
              <a:ext uri="{FF2B5EF4-FFF2-40B4-BE49-F238E27FC236}">
                <a16:creationId xmlns=""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SentimentGuard</a:t>
            </a:r>
          </a:p>
        </p:txBody>
      </p:sp>
    </p:spTree>
    <p:extLst>
      <p:ext uri="{BB962C8B-B14F-4D97-AF65-F5344CB8AC3E}">
        <p14:creationId xmlns:p14="http://schemas.microsoft.com/office/powerpoint/2010/main" val="3102046736"/>
      </p:ext>
    </p:extLst>
  </p:cSld>
  <p:clrMapOvr>
    <a:masterClrMapping/>
  </p:clrMapOvr>
  <p:extLst>
    <p:ext uri="{DCECCB84-F9BA-43D5-87BE-67443E8EF086}">
      <p15:sldGuideLst xmlns:p15="http://schemas.microsoft.com/office/powerpoint/2012/main">
        <p15:guide id="1" orient="horz" pos="902" userDrawn="1">
          <p15:clr>
            <a:srgbClr val="FBAE40"/>
          </p15:clr>
        </p15:guide>
        <p15:guide id="2" pos="285">
          <p15:clr>
            <a:srgbClr val="FBAE40"/>
          </p15:clr>
        </p15:guide>
        <p15:guide id="3" pos="5955">
          <p15:clr>
            <a:srgbClr val="FBAE40"/>
          </p15:clr>
        </p15:guide>
        <p15:guide id="4" pos="32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7" name="슬라이드 번호 개체 틀 15">
            <a:extLst>
              <a:ext uri="{FF2B5EF4-FFF2-40B4-BE49-F238E27FC236}">
                <a16:creationId xmlns=""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SentimentGuard</a:t>
            </a:r>
          </a:p>
        </p:txBody>
      </p:sp>
    </p:spTree>
    <p:extLst>
      <p:ext uri="{BB962C8B-B14F-4D97-AF65-F5344CB8AC3E}">
        <p14:creationId xmlns:p14="http://schemas.microsoft.com/office/powerpoint/2010/main" val="434159522"/>
      </p:ext>
    </p:extLst>
  </p:cSld>
  <p:clrMapOvr>
    <a:masterClrMapping/>
  </p:clrMapOvr>
  <p:extLst>
    <p:ext uri="{DCECCB84-F9BA-43D5-87BE-67443E8EF086}">
      <p15:sldGuideLst xmlns:p15="http://schemas.microsoft.com/office/powerpoint/2012/main">
        <p15:guide id="1" orient="horz" pos="902">
          <p15:clr>
            <a:srgbClr val="FBAE40"/>
          </p15:clr>
        </p15:guide>
        <p15:guide id="2" pos="285">
          <p15:clr>
            <a:srgbClr val="FBAE40"/>
          </p15:clr>
        </p15:guide>
        <p15:guide id="3" pos="5955">
          <p15:clr>
            <a:srgbClr val="FBAE40"/>
          </p15:clr>
        </p15:guide>
        <p15:guide id="4" pos="32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8" y="0"/>
            <a:ext cx="9902825" cy="6858000"/>
          </a:xfrm>
          <a:prstGeom prst="rect">
            <a:avLst/>
          </a:prstGeom>
        </p:spPr>
      </p:pic>
      <p:cxnSp>
        <p:nvCxnSpPr>
          <p:cNvPr id="12" name="직선 연결선 11">
            <a:extLst>
              <a:ext uri="{FF2B5EF4-FFF2-40B4-BE49-F238E27FC236}">
                <a16:creationId xmlns=""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1779621428"/>
      </p:ext>
    </p:extLst>
  </p:cSld>
  <p:clrMapOvr>
    <a:masterClrMapping/>
  </p:clrMapOvr>
  <p:extLst>
    <p:ext uri="{DCECCB84-F9BA-43D5-87BE-67443E8EF086}">
      <p15:sldGuideLst xmlns:p15="http://schemas.microsoft.com/office/powerpoint/2012/main">
        <p15:guide id="1" orient="horz" pos="2614">
          <p15:clr>
            <a:srgbClr val="FBAE40"/>
          </p15:clr>
        </p15:guide>
        <p15:guide id="2" pos="443">
          <p15:clr>
            <a:srgbClr val="FBAE40"/>
          </p15:clr>
        </p15:guide>
        <p15:guide id="3" pos="5955">
          <p15:clr>
            <a:srgbClr val="FBAE40"/>
          </p15:clr>
        </p15:guide>
        <p15:guide id="4" pos="60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 xmlns:a16="http://schemas.microsoft.com/office/drawing/2014/main" id="{E75758B0-2429-4331-898E-5EEED60D4280}"/>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SentimentGuard</a:t>
            </a:r>
          </a:p>
        </p:txBody>
      </p:sp>
    </p:spTree>
    <p:extLst>
      <p:ext uri="{BB962C8B-B14F-4D97-AF65-F5344CB8AC3E}">
        <p14:creationId xmlns:p14="http://schemas.microsoft.com/office/powerpoint/2010/main" val="3942502544"/>
      </p:ext>
    </p:extLst>
  </p:cSld>
  <p:clrMapOvr>
    <a:masterClrMapping/>
  </p:clrMapOvr>
  <p:extLst>
    <p:ext uri="{DCECCB84-F9BA-43D5-87BE-67443E8EF086}">
      <p15:sldGuideLst xmlns:p15="http://schemas.microsoft.com/office/powerpoint/2012/main">
        <p15:guide id="1" orient="horz" pos="2160">
          <p15:clr>
            <a:srgbClr val="FBAE40"/>
          </p15:clr>
        </p15:guide>
        <p15:guide id="2" pos="5955">
          <p15:clr>
            <a:srgbClr val="FBAE40"/>
          </p15:clr>
        </p15:guide>
        <p15:guide id="3" pos="28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ody">
    <p:spTree>
      <p:nvGrpSpPr>
        <p:cNvPr id="1" name=""/>
        <p:cNvGrpSpPr/>
        <p:nvPr/>
      </p:nvGrpSpPr>
      <p:grpSpPr>
        <a:xfrm>
          <a:off x="0" y="0"/>
          <a:ext cx="0" cy="0"/>
          <a:chOff x="0" y="0"/>
          <a:chExt cx="0" cy="0"/>
        </a:xfrm>
      </p:grpSpPr>
      <p:cxnSp>
        <p:nvCxnSpPr>
          <p:cNvPr id="10" name="직선 연결선 9">
            <a:extLst>
              <a:ext uri="{FF2B5EF4-FFF2-40B4-BE49-F238E27FC236}">
                <a16:creationId xmlns=""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8" name="직사각형 7">
            <a:extLst>
              <a:ext uri="{FF2B5EF4-FFF2-40B4-BE49-F238E27FC236}">
                <a16:creationId xmlns=""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468" y="900000"/>
            <a:ext cx="9000714"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15">
            <a:extLst>
              <a:ext uri="{FF2B5EF4-FFF2-40B4-BE49-F238E27FC236}">
                <a16:creationId xmlns="" xmlns:a16="http://schemas.microsoft.com/office/drawing/2014/main" id="{C5960DC7-D671-485D-92B0-FEED6CE658A3}"/>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SentimentGuard</a:t>
            </a:r>
          </a:p>
        </p:txBody>
      </p:sp>
    </p:spTree>
    <p:extLst>
      <p:ext uri="{BB962C8B-B14F-4D97-AF65-F5344CB8AC3E}">
        <p14:creationId xmlns:p14="http://schemas.microsoft.com/office/powerpoint/2010/main" val="1343950608"/>
      </p:ext>
    </p:extLst>
  </p:cSld>
  <p:clrMapOvr>
    <a:masterClrMapping/>
  </p:clrMapOvr>
  <p:extLst>
    <p:ext uri="{DCECCB84-F9BA-43D5-87BE-67443E8EF086}">
      <p15:sldGuideLst xmlns:p15="http://schemas.microsoft.com/office/powerpoint/2012/main">
        <p15:guide id="1" orient="horz" pos="2160">
          <p15:clr>
            <a:srgbClr val="FBAE40"/>
          </p15:clr>
        </p15:guide>
        <p15:guide id="2" pos="285">
          <p15:clr>
            <a:srgbClr val="FBAE40"/>
          </p15:clr>
        </p15:guide>
        <p15:guide id="3" pos="595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 xmlns:a16="http://schemas.microsoft.com/office/drawing/2014/main"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4395"/>
            <a:ext cx="9899651" cy="6853605"/>
          </a:xfrm>
          <a:prstGeom prst="rect">
            <a:avLst/>
          </a:prstGeom>
        </p:spPr>
      </p:pic>
      <p:sp>
        <p:nvSpPr>
          <p:cNvPr id="2" name="직사각형 1"/>
          <p:cNvSpPr/>
          <p:nvPr userDrawn="1"/>
        </p:nvSpPr>
        <p:spPr>
          <a:xfrm>
            <a:off x="2" y="0"/>
            <a:ext cx="9899651"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59" dirty="0"/>
          </a:p>
        </p:txBody>
      </p:sp>
      <p:sp>
        <p:nvSpPr>
          <p:cNvPr id="7" name="직사각형 6">
            <a:extLst>
              <a:ext uri="{FF2B5EF4-FFF2-40B4-BE49-F238E27FC236}">
                <a16:creationId xmlns="" xmlns:a16="http://schemas.microsoft.com/office/drawing/2014/main" id="{782B242C-8600-47F0-98D5-6EA512C41BF2}"/>
              </a:ext>
            </a:extLst>
          </p:cNvPr>
          <p:cNvSpPr/>
          <p:nvPr userDrawn="1"/>
        </p:nvSpPr>
        <p:spPr>
          <a:xfrm>
            <a:off x="449468" y="5677032"/>
            <a:ext cx="9000714"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 panose="020B0503030303020204" pitchFamily="34" charset="0"/>
                <a:cs typeface="+mn-cs"/>
              </a:rPr>
              <a:t>ⓒ</a:t>
            </a:r>
            <a:r>
              <a:rPr kumimoji="0" lang="en-US" altLang="ko-KR" sz="1000" b="0" i="0" u="none" strike="noStrike" kern="1200" cap="none" spc="0" normalizeH="0" baseline="0" noProof="0" dirty="0" smtClean="0">
                <a:ln>
                  <a:noFill/>
                </a:ln>
                <a:solidFill>
                  <a:prstClr val="white"/>
                </a:solidFill>
                <a:effectLst/>
                <a:uLnTx/>
                <a:uFillTx/>
                <a:latin typeface="SamsungOne 400C" panose="020B0506030303020204" pitchFamily="34" charset="0"/>
                <a:ea typeface="SamsungOne 400C" panose="020B0506030303020204" pitchFamily="34" charset="0"/>
                <a:cs typeface="+mn-cs"/>
              </a:rPr>
              <a:t>2023 </a:t>
            </a: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SAMSUNG. All rights reserved.</a:t>
            </a:r>
          </a:p>
          <a:p>
            <a:pPr marL="0" marR="0" lvl="0" indent="0" algn="l" defTabSz="914126"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Samsung Electronics Corporate Citizenship Office holds the copyright of book.</a:t>
            </a:r>
          </a:p>
          <a:p>
            <a:pPr marL="0" marR="0" lvl="0" indent="0" algn="l" defTabSz="914126"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This book is a literary property protected by copyright law so reprint and reproduction without permission are prohibited. </a:t>
            </a:r>
          </a:p>
          <a:p>
            <a:pPr marL="0" marR="0" lvl="0" indent="0" algn="l" defTabSz="914126"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To use this book other than the curriculum of Samsung </a:t>
            </a:r>
            <a:r>
              <a:rPr kumimoji="0" lang="en-US" altLang="ko-KR" sz="1000" b="0" i="0" u="none" strike="noStrike" kern="1200" cap="none" spc="0" normalizeH="0" baseline="0" noProof="0" dirty="0" smtClean="0">
                <a:ln>
                  <a:noFill/>
                </a:ln>
                <a:solidFill>
                  <a:prstClr val="white"/>
                </a:solidFill>
                <a:effectLst/>
                <a:uLnTx/>
                <a:uFillTx/>
                <a:latin typeface="SamsungOne 400C" panose="020B0506030303020204" pitchFamily="34" charset="0"/>
                <a:ea typeface="SamsungOne 400C" panose="020B0506030303020204" pitchFamily="34" charset="0"/>
                <a:cs typeface="+mn-cs"/>
              </a:rPr>
              <a:t>Innovation </a:t>
            </a: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Campus or to use the entire or part of this book, you must receive written consent from copyright holder.</a:t>
            </a:r>
          </a:p>
        </p:txBody>
      </p:sp>
      <p:pic>
        <p:nvPicPr>
          <p:cNvPr id="10" name="그림 3">
            <a:extLst>
              <a:ext uri="{FF2B5EF4-FFF2-40B4-BE49-F238E27FC236}">
                <a16:creationId xmlns="" xmlns:a16="http://schemas.microsoft.com/office/drawing/2014/main"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1822" y="3022951"/>
            <a:ext cx="2476006" cy="812098"/>
          </a:xfrm>
          <a:prstGeom prst="rect">
            <a:avLst/>
          </a:prstGeom>
        </p:spPr>
      </p:pic>
      <p:sp>
        <p:nvSpPr>
          <p:cNvPr id="9" name="Freeform 5">
            <a:extLst>
              <a:ext uri="{FF2B5EF4-FFF2-40B4-BE49-F238E27FC236}">
                <a16:creationId xmlns="" xmlns:a16="http://schemas.microsoft.com/office/drawing/2014/main" id="{0D8AEED9-5E8F-4A4F-8427-AE314BEC60F8}"/>
              </a:ext>
            </a:extLst>
          </p:cNvPr>
          <p:cNvSpPr>
            <a:spLocks noChangeAspect="1" noEditPoints="1"/>
          </p:cNvSpPr>
          <p:nvPr userDrawn="1"/>
        </p:nvSpPr>
        <p:spPr bwMode="auto">
          <a:xfrm>
            <a:off x="449468" y="450000"/>
            <a:ext cx="1290568"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spTree>
    <p:extLst>
      <p:ext uri="{BB962C8B-B14F-4D97-AF65-F5344CB8AC3E}">
        <p14:creationId xmlns:p14="http://schemas.microsoft.com/office/powerpoint/2010/main" val="1227834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5" name="Freeform 5">
            <a:extLst>
              <a:ext uri="{FF2B5EF4-FFF2-40B4-BE49-F238E27FC236}">
                <a16:creationId xmlns=""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Tree>
    <p:extLst>
      <p:ext uri="{BB962C8B-B14F-4D97-AF65-F5344CB8AC3E}">
        <p14:creationId xmlns:p14="http://schemas.microsoft.com/office/powerpoint/2010/main" val="18144426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928821"/>
      </p:ext>
    </p:extLst>
  </p:cSld>
  <p:clrMap bg1="lt1" tx1="dk1" bg2="lt2" tx2="dk2" accent1="accent1" accent2="accent2" accent3="accent3" accent4="accent4" accent5="accent5" accent6="accent6" hlink="hlink" folHlink="folHlink"/>
  <p:sldLayoutIdLst>
    <p:sldLayoutId id="2147483684" r:id="rId1"/>
    <p:sldLayoutId id="2147483691" r:id="rId2"/>
    <p:sldLayoutId id="2147483685" r:id="rId3"/>
    <p:sldLayoutId id="2147483687" r:id="rId4"/>
    <p:sldLayoutId id="2147483694" r:id="rId5"/>
    <p:sldLayoutId id="2147483693" r:id="rId6"/>
    <p:sldLayoutId id="2147483686" r:id="rId7"/>
    <p:sldLayoutId id="2147483688" r:id="rId8"/>
    <p:sldLayoutId id="2147483689" r:id="rId9"/>
    <p:sldLayoutId id="2147483690" r:id="rId10"/>
  </p:sldLayoutIdLst>
  <p:txStyles>
    <p:titleStyle>
      <a:lvl1pPr algn="l" defTabSz="914126" rtl="0" eaLnBrk="1" latinLnBrk="1"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1"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1"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1"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1" hangingPunct="1">
        <a:defRPr sz="1799" kern="1200">
          <a:solidFill>
            <a:schemeClr val="tx1"/>
          </a:solidFill>
          <a:latin typeface="+mn-lt"/>
          <a:ea typeface="+mn-ea"/>
          <a:cs typeface="+mn-cs"/>
        </a:defRPr>
      </a:lvl1pPr>
      <a:lvl2pPr marL="457063" algn="l" defTabSz="914126" rtl="0" eaLnBrk="1" latinLnBrk="1" hangingPunct="1">
        <a:defRPr sz="1799" kern="1200">
          <a:solidFill>
            <a:schemeClr val="tx1"/>
          </a:solidFill>
          <a:latin typeface="+mn-lt"/>
          <a:ea typeface="+mn-ea"/>
          <a:cs typeface="+mn-cs"/>
        </a:defRPr>
      </a:lvl2pPr>
      <a:lvl3pPr marL="914126" algn="l" defTabSz="914126" rtl="0" eaLnBrk="1" latinLnBrk="1" hangingPunct="1">
        <a:defRPr sz="1799" kern="1200">
          <a:solidFill>
            <a:schemeClr val="tx1"/>
          </a:solidFill>
          <a:latin typeface="+mn-lt"/>
          <a:ea typeface="+mn-ea"/>
          <a:cs typeface="+mn-cs"/>
        </a:defRPr>
      </a:lvl3pPr>
      <a:lvl4pPr marL="1371189" algn="l" defTabSz="914126" rtl="0" eaLnBrk="1" latinLnBrk="1" hangingPunct="1">
        <a:defRPr sz="1799" kern="1200">
          <a:solidFill>
            <a:schemeClr val="tx1"/>
          </a:solidFill>
          <a:latin typeface="+mn-lt"/>
          <a:ea typeface="+mn-ea"/>
          <a:cs typeface="+mn-cs"/>
        </a:defRPr>
      </a:lvl4pPr>
      <a:lvl5pPr marL="1828251" algn="l" defTabSz="914126" rtl="0" eaLnBrk="1" latinLnBrk="1" hangingPunct="1">
        <a:defRPr sz="1799" kern="1200">
          <a:solidFill>
            <a:schemeClr val="tx1"/>
          </a:solidFill>
          <a:latin typeface="+mn-lt"/>
          <a:ea typeface="+mn-ea"/>
          <a:cs typeface="+mn-cs"/>
        </a:defRPr>
      </a:lvl5pPr>
      <a:lvl6pPr marL="2285314" algn="l" defTabSz="914126" rtl="0" eaLnBrk="1" latinLnBrk="1" hangingPunct="1">
        <a:defRPr sz="1799" kern="1200">
          <a:solidFill>
            <a:schemeClr val="tx1"/>
          </a:solidFill>
          <a:latin typeface="+mn-lt"/>
          <a:ea typeface="+mn-ea"/>
          <a:cs typeface="+mn-cs"/>
        </a:defRPr>
      </a:lvl6pPr>
      <a:lvl7pPr marL="2742377" algn="l" defTabSz="914126" rtl="0" eaLnBrk="1" latinLnBrk="1" hangingPunct="1">
        <a:defRPr sz="1799" kern="1200">
          <a:solidFill>
            <a:schemeClr val="tx1"/>
          </a:solidFill>
          <a:latin typeface="+mn-lt"/>
          <a:ea typeface="+mn-ea"/>
          <a:cs typeface="+mn-cs"/>
        </a:defRPr>
      </a:lvl7pPr>
      <a:lvl8pPr marL="3199440" algn="l" defTabSz="914126" rtl="0" eaLnBrk="1" latinLnBrk="1" hangingPunct="1">
        <a:defRPr sz="1799" kern="1200">
          <a:solidFill>
            <a:schemeClr val="tx1"/>
          </a:solidFill>
          <a:latin typeface="+mn-lt"/>
          <a:ea typeface="+mn-ea"/>
          <a:cs typeface="+mn-cs"/>
        </a:defRPr>
      </a:lvl8pPr>
      <a:lvl9pPr marL="3656503" algn="l" defTabSz="914126" rtl="0" eaLnBrk="1" latinLnBrk="1"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 xmlns:a16="http://schemas.microsoft.com/office/drawing/2014/main" id="{9ABA57D5-7920-4C59-8990-1FDF22441FA6}"/>
              </a:ext>
            </a:extLst>
          </p:cNvPr>
          <p:cNvSpPr>
            <a:spLocks noGrp="1"/>
          </p:cNvSpPr>
          <p:nvPr>
            <p:ph type="body" sz="quarter" idx="11"/>
          </p:nvPr>
        </p:nvSpPr>
        <p:spPr>
          <a:xfrm>
            <a:off x="720000" y="3551768"/>
            <a:ext cx="6837808" cy="1005840"/>
          </a:xfrm>
        </p:spPr>
        <p:txBody>
          <a:bodyPr/>
          <a:lstStyle/>
          <a:p>
            <a:r>
              <a:rPr lang="en-US" altLang="ko-KR" dirty="0"/>
              <a:t>Team </a:t>
            </a:r>
            <a:r>
              <a:rPr lang="en-US" altLang="ko-KR" dirty="0">
                <a:latin typeface="Arial"/>
              </a:rPr>
              <a:t>6</a:t>
            </a:r>
            <a:endParaRPr lang="ko-KR" altLang="en-US" dirty="0"/>
          </a:p>
          <a:p>
            <a:r>
              <a:rPr sz="1300"/>
              <a:t>Vàng A Ký (Team Leader) · Nguyễn Đình Bằng · Vàng Thị Dẳm</a:t>
            </a:r>
          </a:p>
          <a:p>
            <a:r>
              <a:rPr sz="1300"/>
              <a:t>Dương Thị Hạnh · Ngô Lương Nguyên</a:t>
            </a:r>
          </a:p>
        </p:txBody>
      </p:sp>
      <p:sp>
        <p:nvSpPr>
          <p:cNvPr id="4" name="제목 3">
            <a:extLst>
              <a:ext uri="{FF2B5EF4-FFF2-40B4-BE49-F238E27FC236}">
                <a16:creationId xmlns="" xmlns:a16="http://schemas.microsoft.com/office/drawing/2014/main" id="{51786819-9BFB-478D-BAE7-57DB1DEACF78}"/>
              </a:ext>
            </a:extLst>
          </p:cNvPr>
          <p:cNvSpPr>
            <a:spLocks noGrp="1"/>
          </p:cNvSpPr>
          <p:nvPr>
            <p:ph type="title"/>
          </p:nvPr>
        </p:nvSpPr>
        <p:spPr>
          <a:xfrm>
            <a:off x="720000" y="1710000"/>
            <a:ext cx="5221019" cy="1477328"/>
          </a:xfrm>
        </p:spPr>
        <p:txBody>
          <a:bodyPr/>
          <a:lstStyle/>
          <a:p>
            <a:r>
              <a:t>SentimentGuard</a:t>
            </a:r>
            <a:br/>
            <a:r>
              <a:rPr sz="2200"/>
              <a:t>Real-time Sentiment Classification of Live Chat Comments</a:t>
            </a:r>
            <a:endParaRPr lang="ko-KR" altLang="en-US" dirty="0"/>
          </a:p>
        </p:txBody>
      </p:sp>
    </p:spTree>
    <p:extLst>
      <p:ext uri="{BB962C8B-B14F-4D97-AF65-F5344CB8AC3E}">
        <p14:creationId xmlns:p14="http://schemas.microsoft.com/office/powerpoint/2010/main" val="4009122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 xmlns:a16="http://schemas.microsoft.com/office/drawing/2014/main" id="{906547BD-7739-49E7-A1AB-5660D23FF318}"/>
              </a:ext>
            </a:extLst>
          </p:cNvPr>
          <p:cNvSpPr>
            <a:spLocks noGrp="1"/>
          </p:cNvSpPr>
          <p:nvPr>
            <p:ph type="title"/>
          </p:nvPr>
        </p:nvSpPr>
        <p:spPr/>
        <p:txBody>
          <a:bodyPr/>
          <a:lstStyle/>
          <a:p>
            <a:r>
              <a:rPr lang="en-US" altLang="ko-KR" dirty="0"/>
              <a:t>Problem and Technology for Good</a:t>
            </a:r>
            <a:endParaRPr lang="ko-KR" altLang="en-US" dirty="0"/>
          </a:p>
        </p:txBody>
      </p:sp>
      <p:sp>
        <p:nvSpPr>
          <p:cNvPr id="3" name="텍스트 개체 틀 2">
            <a:extLst>
              <a:ext uri="{FF2B5EF4-FFF2-40B4-BE49-F238E27FC236}">
                <a16:creationId xmlns="" xmlns:a16="http://schemas.microsoft.com/office/drawing/2014/main" id="{B8C115BB-982E-462D-A44C-030D3E23DAE6}"/>
              </a:ext>
            </a:extLst>
          </p:cNvPr>
          <p:cNvSpPr>
            <a:spLocks noGrp="1"/>
          </p:cNvSpPr>
          <p:nvPr>
            <p:ph type="body" sz="quarter" idx="10"/>
          </p:nvPr>
        </p:nvSpPr>
        <p:spPr/>
        <p:txBody>
          <a:bodyPr/>
          <a:lstStyle/>
          <a:p>
            <a:r>
              <a:rPr lang="en-US" altLang="ko-KR" dirty="0"/>
              <a:t>1.1</a:t>
            </a:r>
            <a:endParaRPr lang="ko-KR" altLang="en-US" dirty="0"/>
          </a:p>
        </p:txBody>
      </p:sp>
      <p:sp>
        <p:nvSpPr>
          <p:cNvPr id="4" name="텍스트 개체 틀 3">
            <a:extLst>
              <a:ext uri="{FF2B5EF4-FFF2-40B4-BE49-F238E27FC236}">
                <a16:creationId xmlns="" xmlns:a16="http://schemas.microsoft.com/office/drawing/2014/main" id="{963D7A32-B228-4C31-A4C8-F46398C52720}"/>
              </a:ext>
            </a:extLst>
          </p:cNvPr>
          <p:cNvSpPr>
            <a:spLocks noGrp="1"/>
          </p:cNvSpPr>
          <p:nvPr>
            <p:ph type="body" sz="quarter" idx="11"/>
          </p:nvPr>
        </p:nvSpPr>
        <p:spPr/>
        <p:txBody>
          <a:bodyPr/>
          <a:lstStyle/>
          <a:p>
            <a:r>
              <a:rPr lang="en-US" altLang="ko-KR" dirty="0"/>
              <a:t>Problem</a:t>
            </a:r>
            <a:endParaRPr lang="ko-KR" altLang="en-US" dirty="0"/>
          </a:p>
        </p:txBody>
      </p:sp>
      <p:sp>
        <p:nvSpPr>
          <p:cNvPr id="5" name="텍스트 개체 틀 4">
            <a:extLst>
              <a:ext uri="{FF2B5EF4-FFF2-40B4-BE49-F238E27FC236}">
                <a16:creationId xmlns="" xmlns:a16="http://schemas.microsoft.com/office/drawing/2014/main" id="{D6B544C2-6ECF-4B3B-B28D-1B5551F72E20}"/>
              </a:ext>
            </a:extLst>
          </p:cNvPr>
          <p:cNvSpPr>
            <a:spLocks noGrp="1"/>
          </p:cNvSpPr>
          <p:nvPr>
            <p:ph type="body" sz="quarter" idx="12"/>
          </p:nvPr>
        </p:nvSpPr>
        <p:spPr/>
        <p:txBody>
          <a:bodyPr/>
          <a:lstStyle/>
          <a:p>
            <a:r>
              <a:rPr lang="en-US" altLang="ko-KR" dirty="0"/>
              <a:t>01</a:t>
            </a:r>
            <a:endParaRPr lang="ko-KR" altLang="en-US" dirty="0"/>
          </a:p>
        </p:txBody>
      </p:sp>
      <p:sp>
        <p:nvSpPr>
          <p:cNvPr id="6" name="텍스트 개체 틀 5">
            <a:extLst>
              <a:ext uri="{FF2B5EF4-FFF2-40B4-BE49-F238E27FC236}">
                <a16:creationId xmlns="" xmlns:a16="http://schemas.microsoft.com/office/drawing/2014/main" id="{F17A5E5A-66EE-42B7-A47B-38D82A9818DC}"/>
              </a:ext>
            </a:extLst>
          </p:cNvPr>
          <p:cNvSpPr>
            <a:spLocks noGrp="1"/>
          </p:cNvSpPr>
          <p:nvPr>
            <p:ph type="body" sz="quarter" idx="13"/>
          </p:nvPr>
        </p:nvSpPr>
        <p:spPr/>
        <p:txBody>
          <a:bodyPr/>
          <a:lstStyle/>
          <a:p>
            <a:r>
              <a:rPr lang="en-US" altLang="ko-KR" dirty="0"/>
              <a:t>UNIT</a:t>
            </a:r>
            <a:endParaRPr lang="ko-KR" altLang="en-US" dirty="0"/>
          </a:p>
        </p:txBody>
      </p:sp>
      <p:sp>
        <p:nvSpPr>
          <p:cNvPr id="7" name="텍스트 개체 틀 6">
            <a:extLst>
              <a:ext uri="{FF2B5EF4-FFF2-40B4-BE49-F238E27FC236}">
                <a16:creationId xmlns="" xmlns:a16="http://schemas.microsoft.com/office/drawing/2014/main" id="{5D7BE4A2-6816-4C15-8CC8-6EEF7E4F9A24}"/>
              </a:ext>
            </a:extLst>
          </p:cNvPr>
          <p:cNvSpPr>
            <a:spLocks noGrp="1"/>
          </p:cNvSpPr>
          <p:nvPr>
            <p:ph type="body" sz="quarter" idx="15"/>
          </p:nvPr>
        </p:nvSpPr>
        <p:spPr>
          <a:xfrm>
            <a:off x="522288" y="2221661"/>
            <a:ext cx="8055439" cy="2194560"/>
          </a:xfrm>
        </p:spPr>
        <p:txBody>
          <a:bodyPr wrap="square"/>
          <a:lstStyle/>
          <a:p>
            <a:r>
              <a:rPr lang="en-US" altLang="ko-KR" dirty="0" smtClean="0" sz="1500"/>
              <a:t>Live chat never stops — thousands of comments arrive far faster than one person can read.</a:t>
            </a:r>
            <a:endParaRPr lang="en-US" altLang="ko-KR" dirty="0"/>
          </a:p>
          <a:p>
            <a:r>
              <a:rPr lang="en-US" altLang="ko-KR" dirty="0" smtClean="0" sz="1500"/>
              <a:t>Harmful spikes (harassment, hate, spam) are noticed only after the damage is done; manual moderation alone cannot keep up.</a:t>
            </a:r>
            <a:endParaRPr lang="en-US" altLang="ko-KR" dirty="0"/>
          </a:p>
          <a:p>
            <a:r>
              <a:rPr lang="en-US" altLang="ko-KR" dirty="0" smtClean="0" sz="1500"/>
              <a:t>Goal: detect a negative spike within seconds and warn the streamer while the session is still live.</a:t>
            </a:r>
            <a:endParaRPr lang="en-US" altLang="ko-KR" dirty="0"/>
          </a:p>
          <a:p>
            <a:r>
              <a:rPr lang="en-US" altLang="ko-KR" dirty="0" smtClean="0" sz="1500"/>
              <a:t>Who benefits: solo and small streamers, including educational and public-service channels.</a:t>
            </a:r>
            <a:endParaRPr lang="en-US" altLang="ko-KR" dirty="0"/>
          </a:p>
          <a:p>
            <a:r>
              <a:rPr lang="en-US" altLang="ko-KR" dirty="0" smtClean="0" sz="1500"/>
              <a:t>Technology for Good: protects community safety and creator mental health — self-hosted, no chat data leaves the machine.</a:t>
            </a:r>
            <a:endParaRPr lang="en-US" altLang="ko-KR" dirty="0"/>
          </a:p>
        </p:txBody>
      </p:sp>
    </p:spTree>
    <p:extLst>
      <p:ext uri="{BB962C8B-B14F-4D97-AF65-F5344CB8AC3E}">
        <p14:creationId xmlns:p14="http://schemas.microsoft.com/office/powerpoint/2010/main" val="4080462794"/>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제목 1">
            <a:extLst>
              <a:ext uri="{FF2B5EF4-FFF2-40B4-BE49-F238E27FC236}">
                <a16:creationId xmlns="" xmlns:a16="http://schemas.microsoft.com/office/drawing/2014/main" id="{906547BD-7739-49E7-A1AB-5660D23FF318}"/>
              </a:ext>
            </a:extLst>
          </p:cNvPr>
          <p:cNvSpPr>
            <a:spLocks noGrp="1"/>
          </p:cNvSpPr>
          <p:nvPr>
            <p:ph type="title"/>
          </p:nvPr>
        </p:nvSpPr>
        <p:spPr/>
        <p:txBody>
          <a:bodyPr/>
          <a:lstStyle/>
          <a:p>
            <a:r>
              <a:rPr lang="en-US" altLang="ko-KR" dirty="0"/>
              <a:t>Data and Architecture</a:t>
            </a:r>
            <a:endParaRPr lang="ko-KR" altLang="en-US" dirty="0"/>
          </a:p>
        </p:txBody>
      </p:sp>
      <p:sp>
        <p:nvSpPr>
          <p:cNvPr id="3" name="텍스트 개체 틀 2">
            <a:extLst>
              <a:ext uri="{FF2B5EF4-FFF2-40B4-BE49-F238E27FC236}">
                <a16:creationId xmlns="" xmlns:a16="http://schemas.microsoft.com/office/drawing/2014/main" id="{B8C115BB-982E-462D-A44C-030D3E23DAE6}"/>
              </a:ext>
            </a:extLst>
          </p:cNvPr>
          <p:cNvSpPr>
            <a:spLocks noGrp="1"/>
          </p:cNvSpPr>
          <p:nvPr>
            <p:ph type="body" sz="quarter" idx="10"/>
          </p:nvPr>
        </p:nvSpPr>
        <p:spPr/>
        <p:txBody>
          <a:bodyPr/>
          <a:lstStyle/>
          <a:p>
            <a:r>
              <a:rPr lang="en-US" altLang="ko-KR" dirty="0"/>
              <a:t>1.2</a:t>
            </a:r>
            <a:endParaRPr lang="ko-KR" altLang="en-US" dirty="0"/>
          </a:p>
        </p:txBody>
      </p:sp>
      <p:sp>
        <p:nvSpPr>
          <p:cNvPr id="4" name="텍스트 개체 틀 3">
            <a:extLst>
              <a:ext uri="{FF2B5EF4-FFF2-40B4-BE49-F238E27FC236}">
                <a16:creationId xmlns="" xmlns:a16="http://schemas.microsoft.com/office/drawing/2014/main" id="{963D7A32-B228-4C31-A4C8-F46398C52720}"/>
              </a:ext>
            </a:extLst>
          </p:cNvPr>
          <p:cNvSpPr>
            <a:spLocks noGrp="1"/>
          </p:cNvSpPr>
          <p:nvPr>
            <p:ph type="body" sz="quarter" idx="11"/>
          </p:nvPr>
        </p:nvSpPr>
        <p:spPr/>
        <p:txBody>
          <a:bodyPr/>
          <a:lstStyle/>
          <a:p>
            <a:r>
              <a:rPr lang="en-US" altLang="ko-KR" dirty="0"/>
              <a:t>Data and Architecture</a:t>
            </a:r>
            <a:endParaRPr lang="ko-KR" altLang="en-US" dirty="0"/>
          </a:p>
        </p:txBody>
      </p:sp>
      <p:sp>
        <p:nvSpPr>
          <p:cNvPr id="5" name="텍스트 개체 틀 4">
            <a:extLst>
              <a:ext uri="{FF2B5EF4-FFF2-40B4-BE49-F238E27FC236}">
                <a16:creationId xmlns="" xmlns:a16="http://schemas.microsoft.com/office/drawing/2014/main" id="{D6B544C2-6ECF-4B3B-B28D-1B5551F72E20}"/>
              </a:ext>
            </a:extLst>
          </p:cNvPr>
          <p:cNvSpPr>
            <a:spLocks noGrp="1"/>
          </p:cNvSpPr>
          <p:nvPr>
            <p:ph type="body" sz="quarter" idx="12"/>
          </p:nvPr>
        </p:nvSpPr>
        <p:spPr/>
        <p:txBody>
          <a:bodyPr/>
          <a:lstStyle/>
          <a:p>
            <a:r>
              <a:rPr lang="en-US" altLang="ko-KR" dirty="0"/>
              <a:t>01</a:t>
            </a:r>
            <a:endParaRPr lang="ko-KR" altLang="en-US" dirty="0"/>
          </a:p>
        </p:txBody>
      </p:sp>
      <p:sp>
        <p:nvSpPr>
          <p:cNvPr id="6" name="텍스트 개체 틀 5">
            <a:extLst>
              <a:ext uri="{FF2B5EF4-FFF2-40B4-BE49-F238E27FC236}">
                <a16:creationId xmlns="" xmlns:a16="http://schemas.microsoft.com/office/drawing/2014/main" id="{F17A5E5A-66EE-42B7-A47B-38D82A9818DC}"/>
              </a:ext>
            </a:extLst>
          </p:cNvPr>
          <p:cNvSpPr>
            <a:spLocks noGrp="1"/>
          </p:cNvSpPr>
          <p:nvPr>
            <p:ph type="body" sz="quarter" idx="13"/>
          </p:nvPr>
        </p:nvSpPr>
        <p:spPr/>
        <p:txBody>
          <a:bodyPr/>
          <a:lstStyle/>
          <a:p>
            <a:r>
              <a:rPr lang="en-US" altLang="ko-KR" dirty="0"/>
              <a:t>UNIT</a:t>
            </a:r>
            <a:endParaRPr lang="ko-KR" altLang="en-US" dirty="0"/>
          </a:p>
        </p:txBody>
      </p:sp>
      <p:sp>
        <p:nvSpPr>
          <p:cNvPr id="7" name="텍스트 개체 틀 6">
            <a:extLst>
              <a:ext uri="{FF2B5EF4-FFF2-40B4-BE49-F238E27FC236}">
                <a16:creationId xmlns="" xmlns:a16="http://schemas.microsoft.com/office/drawing/2014/main" id="{5D7BE4A2-6816-4C15-8CC8-6EEF7E4F9A24}"/>
              </a:ext>
            </a:extLst>
          </p:cNvPr>
          <p:cNvSpPr>
            <a:spLocks noGrp="1"/>
          </p:cNvSpPr>
          <p:nvPr>
            <p:ph type="body" sz="quarter" idx="15"/>
          </p:nvPr>
        </p:nvSpPr>
        <p:spPr>
          <a:xfrm>
            <a:off x="522288" y="2221661"/>
            <a:ext cx="8055439" cy="1463040"/>
          </a:xfrm>
        </p:spPr>
        <p:txBody>
          <a:bodyPr wrap="square"/>
          <a:lstStyle/>
          <a:p>
            <a:r>
              <a:rPr lang="en-US" altLang="ko-KR" dirty="0" smtClean="0" sz="1500"/>
              <a:t>Data: public IMDb reviews (CC0, about 1.0 million); 3 classes from 1–10 ratings.</a:t>
            </a:r>
            <a:endParaRPr lang="en-US" altLang="ko-KR" dirty="0"/>
          </a:p>
          <a:p>
            <a:r>
              <a:rPr lang="en-US" altLang="ko-KR" dirty="0" smtClean="0" sz="1500"/>
              <a:t>The stream is simulated: labelled live chat is unavailable, so we replay the data.</a:t>
            </a:r>
            <a:endParaRPr lang="en-US" altLang="ko-KR" dirty="0"/>
          </a:p>
          <a:p>
            <a:r>
              <a:rPr lang="en-US" altLang="ko-KR" dirty="0" smtClean="0" sz="1500"/>
              <a:t>Labels never enter the stream — stored separately, joined back by comment ID.</a:t>
            </a:r>
            <a:endParaRPr lang="en-US" altLang="ko-KR" dirty="0"/>
          </a:p>
          <a:p>
            <a:r>
              <a:rPr lang="en-US" altLang="ko-KR" dirty="0" smtClean="0" sz="1500"/>
              <a:t>Event time + watermark handle bursts; bad records go to a dead-letter queue.</a:t>
            </a:r>
            <a:endParaRPr lang="en-US" altLang="ko-KR" dirty="0"/>
          </a:p>
        </p:txBody>
      </p:sp>
      <p:sp>
        <p:nvSpPr>
          <p:cNvPr id="8" name="TextBox 7"/>
          <p:cNvSpPr txBox="1"/>
          <p:nvPr/>
        </p:nvSpPr>
        <p:spPr>
          <a:xfrm>
            <a:off x="521207" y="3703320"/>
            <a:ext cx="8778240" cy="274320"/>
          </a:xfrm>
          <a:prstGeom prst="rect">
            <a:avLst/>
          </a:prstGeom>
          <a:noFill/>
        </p:spPr>
        <p:txBody>
          <a:bodyPr wrap="square">
            <a:spAutoFit/>
          </a:bodyPr>
          <a:lstStyle/>
          <a:p>
            <a:r>
              <a:rPr sz="950">
                <a:solidFill>
                  <a:srgbClr val="595959"/>
                </a:solidFill>
              </a:rPr>
              <a:t>Simulated live stream — the dataset is replayed through Kafka (not a real livestream):</a:t>
            </a:r>
          </a:p>
        </p:txBody>
      </p:sp>
      <p:sp>
        <p:nvSpPr>
          <p:cNvPr id="9" name="Rounded Rectangle 8"/>
          <p:cNvSpPr/>
          <p:nvPr/>
        </p:nvSpPr>
        <p:spPr>
          <a:xfrm>
            <a:off x="521207" y="4023360"/>
            <a:ext cx="1554480" cy="868680"/>
          </a:xfrm>
          <a:prstGeom prst="roundRect">
            <a:avLst>
              <a:gd name="adj" fmla="val 14000"/>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1428A0"/>
                </a:solidFill>
              </a:rPr>
              <a:t>Replay producer</a:t>
            </a:r>
          </a:p>
          <a:p>
            <a:r>
              <a:rPr sz="850">
                <a:solidFill>
                  <a:srgbClr val="595959"/>
                </a:solidFill>
              </a:rPr>
              <a:t>rate · bursts · late records</a:t>
            </a:r>
          </a:p>
        </p:txBody>
      </p:sp>
      <p:sp>
        <p:nvSpPr>
          <p:cNvPr id="10" name="Rounded Rectangle 9"/>
          <p:cNvSpPr/>
          <p:nvPr/>
        </p:nvSpPr>
        <p:spPr>
          <a:xfrm>
            <a:off x="2395728" y="4023360"/>
            <a:ext cx="1554480" cy="868680"/>
          </a:xfrm>
          <a:prstGeom prst="roundRect">
            <a:avLst>
              <a:gd name="adj" fmla="val 14000"/>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1428A0"/>
                </a:solidFill>
              </a:rPr>
              <a:t>Kafka topic</a:t>
            </a:r>
          </a:p>
          <a:p>
            <a:r>
              <a:rPr sz="850">
                <a:solidFill>
                  <a:srgbClr val="595959"/>
                </a:solidFill>
              </a:rPr>
              <a:t>comments_raw (JSON)</a:t>
            </a:r>
          </a:p>
        </p:txBody>
      </p:sp>
      <p:sp>
        <p:nvSpPr>
          <p:cNvPr id="11" name="Rounded Rectangle 10"/>
          <p:cNvSpPr/>
          <p:nvPr/>
        </p:nvSpPr>
        <p:spPr>
          <a:xfrm>
            <a:off x="4270248" y="4023360"/>
            <a:ext cx="1691640" cy="868680"/>
          </a:xfrm>
          <a:prstGeom prst="roundRect">
            <a:avLst>
              <a:gd name="adj" fmla="val 14000"/>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1428A0"/>
                </a:solidFill>
              </a:rPr>
              <a:t>Spark Structured Streaming</a:t>
            </a:r>
          </a:p>
          <a:p>
            <a:r>
              <a:rPr sz="850">
                <a:solidFill>
                  <a:srgbClr val="595959"/>
                </a:solidFill>
              </a:rPr>
              <a:t>schema · event-time windows · watermark</a:t>
            </a:r>
          </a:p>
        </p:txBody>
      </p:sp>
      <p:sp>
        <p:nvSpPr>
          <p:cNvPr id="12" name="Rounded Rectangle 11"/>
          <p:cNvSpPr/>
          <p:nvPr/>
        </p:nvSpPr>
        <p:spPr>
          <a:xfrm>
            <a:off x="6281928" y="4023360"/>
            <a:ext cx="1554480" cy="868680"/>
          </a:xfrm>
          <a:prstGeom prst="roundRect">
            <a:avLst>
              <a:gd name="adj" fmla="val 14000"/>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1428A0"/>
                </a:solidFill>
              </a:rPr>
              <a:t>Spark ML pipeline</a:t>
            </a:r>
          </a:p>
          <a:p>
            <a:r>
              <a:rPr sz="850">
                <a:solidFill>
                  <a:srgbClr val="595959"/>
                </a:solidFill>
              </a:rPr>
              <a:t>TF-IDF + linear model → sentiment</a:t>
            </a:r>
          </a:p>
        </p:txBody>
      </p:sp>
      <p:sp>
        <p:nvSpPr>
          <p:cNvPr id="13" name="Rounded Rectangle 12"/>
          <p:cNvSpPr/>
          <p:nvPr/>
        </p:nvSpPr>
        <p:spPr>
          <a:xfrm>
            <a:off x="8156448" y="4023360"/>
            <a:ext cx="1554480" cy="868680"/>
          </a:xfrm>
          <a:prstGeom prst="roundRect">
            <a:avLst>
              <a:gd name="adj" fmla="val 14000"/>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1428A0"/>
                </a:solidFill>
              </a:rPr>
              <a:t>Streamlit dashboard</a:t>
            </a:r>
          </a:p>
          <a:p>
            <a:r>
              <a:rPr sz="850">
                <a:solidFill>
                  <a:srgbClr val="595959"/>
                </a:solidFill>
              </a:rPr>
              <a:t>aggregates + spike alert</a:t>
            </a:r>
          </a:p>
        </p:txBody>
      </p:sp>
      <p:cxnSp>
        <p:nvCxnSpPr>
          <p:cNvPr id="14" name="Connector 13"/>
          <p:cNvCxnSpPr/>
          <p:nvPr/>
        </p:nvCxnSpPr>
        <p:spPr>
          <a:xfrm>
            <a:off x="2075688" y="4457700"/>
            <a:ext cx="320040" cy="0"/>
          </a:xfrm>
          <a:prstGeom prst="line">
            <a:avLst/>
          </a:prstGeom>
          <a:ln w="1905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950208" y="4457700"/>
            <a:ext cx="320040" cy="0"/>
          </a:xfrm>
          <a:prstGeom prst="line">
            <a:avLst/>
          </a:prstGeom>
          <a:ln w="1905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961888" y="4457700"/>
            <a:ext cx="320039" cy="0"/>
          </a:xfrm>
          <a:prstGeom prst="line">
            <a:avLst/>
          </a:prstGeom>
          <a:ln w="1905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836408" y="4457700"/>
            <a:ext cx="320040" cy="0"/>
          </a:xfrm>
          <a:prstGeom prst="line">
            <a:avLst/>
          </a:prstGeom>
          <a:ln w="1905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111496" y="4892040"/>
            <a:ext cx="0" cy="411480"/>
          </a:xfrm>
          <a:prstGeom prst="line">
            <a:avLst/>
          </a:prstGeom>
          <a:ln w="1905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270248" y="5303520"/>
            <a:ext cx="1691640" cy="566928"/>
          </a:xfrm>
          <a:prstGeom prst="roundRect">
            <a:avLst>
              <a:gd name="adj" fmla="val 14000"/>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1428A0"/>
                </a:solidFill>
              </a:rPr>
              <a:t>Dead-letter queue</a:t>
            </a:r>
          </a:p>
          <a:p>
            <a:r>
              <a:rPr sz="850">
                <a:solidFill>
                  <a:srgbClr val="595959"/>
                </a:solidFill>
              </a:rPr>
              <a:t>invalid records + reason</a:t>
            </a:r>
          </a:p>
        </p:txBody>
      </p:sp>
      <p:sp>
        <p:nvSpPr>
          <p:cNvPr id="20" name="TextBox 19"/>
          <p:cNvSpPr txBox="1"/>
          <p:nvPr/>
        </p:nvSpPr>
        <p:spPr>
          <a:xfrm>
            <a:off x="521207" y="6053328"/>
            <a:ext cx="8778240" cy="274320"/>
          </a:xfrm>
          <a:prstGeom prst="rect">
            <a:avLst/>
          </a:prstGeom>
          <a:noFill/>
        </p:spPr>
        <p:txBody>
          <a:bodyPr wrap="square">
            <a:spAutoFit/>
          </a:bodyPr>
          <a:lstStyle/>
          <a:p>
            <a:r>
              <a:rPr sz="950">
                <a:solidFill>
                  <a:srgbClr val="595959"/>
                </a:solidFill>
              </a:rPr>
              <a:t>Labels stay outside the stream: stored separately and joined by comment ID only for evaluation.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제목 1">
            <a:extLst>
              <a:ext uri="{FF2B5EF4-FFF2-40B4-BE49-F238E27FC236}">
                <a16:creationId xmlns="" xmlns:a16="http://schemas.microsoft.com/office/drawing/2014/main" id="{906547BD-7739-49E7-A1AB-5660D23FF318}"/>
              </a:ext>
            </a:extLst>
          </p:cNvPr>
          <p:cNvSpPr>
            <a:spLocks noGrp="1"/>
          </p:cNvSpPr>
          <p:nvPr>
            <p:ph type="title"/>
          </p:nvPr>
        </p:nvSpPr>
        <p:spPr/>
        <p:txBody>
          <a:bodyPr/>
          <a:lstStyle/>
          <a:p>
            <a:r>
              <a:rPr lang="en-US" altLang="ko-KR" dirty="0"/>
              <a:t>Expected Outcome and Novelty</a:t>
            </a:r>
            <a:endParaRPr lang="ko-KR" altLang="en-US" dirty="0"/>
          </a:p>
        </p:txBody>
      </p:sp>
      <p:sp>
        <p:nvSpPr>
          <p:cNvPr id="3" name="텍스트 개체 틀 2">
            <a:extLst>
              <a:ext uri="{FF2B5EF4-FFF2-40B4-BE49-F238E27FC236}">
                <a16:creationId xmlns="" xmlns:a16="http://schemas.microsoft.com/office/drawing/2014/main" id="{B8C115BB-982E-462D-A44C-030D3E23DAE6}"/>
              </a:ext>
            </a:extLst>
          </p:cNvPr>
          <p:cNvSpPr>
            <a:spLocks noGrp="1"/>
          </p:cNvSpPr>
          <p:nvPr>
            <p:ph type="body" sz="quarter" idx="10"/>
          </p:nvPr>
        </p:nvSpPr>
        <p:spPr/>
        <p:txBody>
          <a:bodyPr/>
          <a:lstStyle/>
          <a:p>
            <a:r>
              <a:rPr lang="en-US" altLang="ko-KR" dirty="0"/>
              <a:t>1.3</a:t>
            </a:r>
            <a:endParaRPr lang="ko-KR" altLang="en-US" dirty="0"/>
          </a:p>
        </p:txBody>
      </p:sp>
      <p:sp>
        <p:nvSpPr>
          <p:cNvPr id="4" name="텍스트 개체 틀 3">
            <a:extLst>
              <a:ext uri="{FF2B5EF4-FFF2-40B4-BE49-F238E27FC236}">
                <a16:creationId xmlns="" xmlns:a16="http://schemas.microsoft.com/office/drawing/2014/main" id="{963D7A32-B228-4C31-A4C8-F46398C52720}"/>
              </a:ext>
            </a:extLst>
          </p:cNvPr>
          <p:cNvSpPr>
            <a:spLocks noGrp="1"/>
          </p:cNvSpPr>
          <p:nvPr>
            <p:ph type="body" sz="quarter" idx="11"/>
          </p:nvPr>
        </p:nvSpPr>
        <p:spPr/>
        <p:txBody>
          <a:bodyPr/>
          <a:lstStyle/>
          <a:p>
            <a:r>
              <a:rPr lang="en-US" altLang="ko-KR" dirty="0"/>
              <a:t>Outcome and Novelty</a:t>
            </a:r>
            <a:endParaRPr lang="ko-KR" altLang="en-US" dirty="0"/>
          </a:p>
        </p:txBody>
      </p:sp>
      <p:sp>
        <p:nvSpPr>
          <p:cNvPr id="5" name="텍스트 개체 틀 4">
            <a:extLst>
              <a:ext uri="{FF2B5EF4-FFF2-40B4-BE49-F238E27FC236}">
                <a16:creationId xmlns="" xmlns:a16="http://schemas.microsoft.com/office/drawing/2014/main" id="{D6B544C2-6ECF-4B3B-B28D-1B5551F72E20}"/>
              </a:ext>
            </a:extLst>
          </p:cNvPr>
          <p:cNvSpPr>
            <a:spLocks noGrp="1"/>
          </p:cNvSpPr>
          <p:nvPr>
            <p:ph type="body" sz="quarter" idx="12"/>
          </p:nvPr>
        </p:nvSpPr>
        <p:spPr/>
        <p:txBody>
          <a:bodyPr/>
          <a:lstStyle/>
          <a:p>
            <a:r>
              <a:rPr lang="en-US" altLang="ko-KR" dirty="0"/>
              <a:t>01</a:t>
            </a:r>
            <a:endParaRPr lang="ko-KR" altLang="en-US" dirty="0"/>
          </a:p>
        </p:txBody>
      </p:sp>
      <p:sp>
        <p:nvSpPr>
          <p:cNvPr id="6" name="텍스트 개체 틀 5">
            <a:extLst>
              <a:ext uri="{FF2B5EF4-FFF2-40B4-BE49-F238E27FC236}">
                <a16:creationId xmlns="" xmlns:a16="http://schemas.microsoft.com/office/drawing/2014/main" id="{F17A5E5A-66EE-42B7-A47B-38D82A9818DC}"/>
              </a:ext>
            </a:extLst>
          </p:cNvPr>
          <p:cNvSpPr>
            <a:spLocks noGrp="1"/>
          </p:cNvSpPr>
          <p:nvPr>
            <p:ph type="body" sz="quarter" idx="13"/>
          </p:nvPr>
        </p:nvSpPr>
        <p:spPr/>
        <p:txBody>
          <a:bodyPr/>
          <a:lstStyle/>
          <a:p>
            <a:r>
              <a:rPr lang="en-US" altLang="ko-KR" dirty="0"/>
              <a:t>UNIT</a:t>
            </a:r>
            <a:endParaRPr lang="ko-KR" altLang="en-US" dirty="0"/>
          </a:p>
        </p:txBody>
      </p:sp>
      <p:sp>
        <p:nvSpPr>
          <p:cNvPr id="7" name="텍스트 개체 틀 6">
            <a:extLst>
              <a:ext uri="{FF2B5EF4-FFF2-40B4-BE49-F238E27FC236}">
                <a16:creationId xmlns="" xmlns:a16="http://schemas.microsoft.com/office/drawing/2014/main" id="{5D7BE4A2-6816-4C15-8CC8-6EEF7E4F9A24}"/>
              </a:ext>
            </a:extLst>
          </p:cNvPr>
          <p:cNvSpPr>
            <a:spLocks noGrp="1"/>
          </p:cNvSpPr>
          <p:nvPr>
            <p:ph type="body" sz="quarter" idx="15"/>
          </p:nvPr>
        </p:nvSpPr>
        <p:spPr>
          <a:xfrm>
            <a:off x="522288" y="2221661"/>
            <a:ext cx="8055439" cy="2377440"/>
          </a:xfrm>
        </p:spPr>
        <p:txBody>
          <a:bodyPr wrap="square"/>
          <a:lstStyle/>
          <a:p>
            <a:r>
              <a:rPr lang="en-US" altLang="ko-KR" dirty="0" smtClean="0" sz="1500"/>
              <a:t>Near-real-time classification into negative / neutral / positive, with end-to-end latency reported (p50 / p95 / p99).</a:t>
            </a:r>
            <a:endParaRPr lang="en-US" altLang="ko-KR" dirty="0"/>
          </a:p>
          <a:p>
            <a:r>
              <a:rPr lang="en-US" altLang="ko-KR" dirty="0" smtClean="0" sz="1500"/>
              <a:t>Model quality reported as macro-F1 with per-class precision / recall / F1 — never accuracy alone.</a:t>
            </a:r>
            <a:endParaRPr lang="en-US" altLang="ko-KR" dirty="0"/>
          </a:p>
          <a:p>
            <a:r>
              <a:rPr lang="en-US" altLang="ko-KR" dirty="0" smtClean="0" sz="1500"/>
              <a:t>Novelty: detecting comment spikes, not just labelling comments — and one shared cleaning path for training and streaming, so no train/serve drift.</a:t>
            </a:r>
            <a:endParaRPr lang="en-US" altLang="ko-KR" dirty="0"/>
          </a:p>
          <a:p>
            <a:r>
              <a:rPr lang="en-US" altLang="ko-KR" dirty="0" smtClean="0" sz="1500"/>
              <a:t>Honest limits: rating-derived labels, domain shift (reviews are not chat), sarcasm; the stream is a replay — not a real livestream.</a:t>
            </a:r>
            <a:endParaRPr lang="en-US" altLang="ko-KR" dirty="0"/>
          </a:p>
          <a:p>
            <a:r>
              <a:rPr lang="en-US" altLang="ko-KR" dirty="0" smtClean="0" sz="1500"/>
              <a:t>Goal: a working prototype at TRL 5, validated in a simulated environment, released with reproducible scripts.</a:t>
            </a:r>
            <a:endParaRPr lang="en-US" altLang="ko-KR"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제목 1">
            <a:extLst>
              <a:ext uri="{FF2B5EF4-FFF2-40B4-BE49-F238E27FC236}">
                <a16:creationId xmlns="" xmlns:a16="http://schemas.microsoft.com/office/drawing/2014/main" id="{906547BD-7739-49E7-A1AB-5660D23FF318}"/>
              </a:ext>
            </a:extLst>
          </p:cNvPr>
          <p:cNvSpPr>
            <a:spLocks noGrp="1"/>
          </p:cNvSpPr>
          <p:nvPr>
            <p:ph type="title"/>
          </p:nvPr>
        </p:nvSpPr>
        <p:spPr/>
        <p:txBody>
          <a:bodyPr/>
          <a:lstStyle/>
          <a:p>
            <a:r>
              <a:rPr lang="en-US" altLang="ko-KR" dirty="0"/>
              <a:t>Roles and Schedule</a:t>
            </a:r>
            <a:endParaRPr lang="ko-KR" altLang="en-US" dirty="0"/>
          </a:p>
        </p:txBody>
      </p:sp>
      <p:sp>
        <p:nvSpPr>
          <p:cNvPr id="3" name="텍스트 개체 틀 2">
            <a:extLst>
              <a:ext uri="{FF2B5EF4-FFF2-40B4-BE49-F238E27FC236}">
                <a16:creationId xmlns="" xmlns:a16="http://schemas.microsoft.com/office/drawing/2014/main" id="{B8C115BB-982E-462D-A44C-030D3E23DAE6}"/>
              </a:ext>
            </a:extLst>
          </p:cNvPr>
          <p:cNvSpPr>
            <a:spLocks noGrp="1"/>
          </p:cNvSpPr>
          <p:nvPr>
            <p:ph type="body" sz="quarter" idx="10"/>
          </p:nvPr>
        </p:nvSpPr>
        <p:spPr/>
        <p:txBody>
          <a:bodyPr/>
          <a:lstStyle/>
          <a:p>
            <a:r>
              <a:rPr lang="en-US" altLang="ko-KR" dirty="0"/>
              <a:t>1.4</a:t>
            </a:r>
            <a:endParaRPr lang="ko-KR" altLang="en-US" dirty="0"/>
          </a:p>
        </p:txBody>
      </p:sp>
      <p:sp>
        <p:nvSpPr>
          <p:cNvPr id="4" name="텍스트 개체 틀 3">
            <a:extLst>
              <a:ext uri="{FF2B5EF4-FFF2-40B4-BE49-F238E27FC236}">
                <a16:creationId xmlns="" xmlns:a16="http://schemas.microsoft.com/office/drawing/2014/main" id="{963D7A32-B228-4C31-A4C8-F46398C52720}"/>
              </a:ext>
            </a:extLst>
          </p:cNvPr>
          <p:cNvSpPr>
            <a:spLocks noGrp="1"/>
          </p:cNvSpPr>
          <p:nvPr>
            <p:ph type="body" sz="quarter" idx="11"/>
          </p:nvPr>
        </p:nvSpPr>
        <p:spPr/>
        <p:txBody>
          <a:bodyPr/>
          <a:lstStyle/>
          <a:p>
            <a:r>
              <a:rPr lang="en-US" altLang="ko-KR" dirty="0"/>
              <a:t>Team and Plan</a:t>
            </a:r>
            <a:endParaRPr lang="ko-KR" altLang="en-US" dirty="0"/>
          </a:p>
        </p:txBody>
      </p:sp>
      <p:sp>
        <p:nvSpPr>
          <p:cNvPr id="5" name="텍스트 개체 틀 4">
            <a:extLst>
              <a:ext uri="{FF2B5EF4-FFF2-40B4-BE49-F238E27FC236}">
                <a16:creationId xmlns="" xmlns:a16="http://schemas.microsoft.com/office/drawing/2014/main" id="{D6B544C2-6ECF-4B3B-B28D-1B5551F72E20}"/>
              </a:ext>
            </a:extLst>
          </p:cNvPr>
          <p:cNvSpPr>
            <a:spLocks noGrp="1"/>
          </p:cNvSpPr>
          <p:nvPr>
            <p:ph type="body" sz="quarter" idx="12"/>
          </p:nvPr>
        </p:nvSpPr>
        <p:spPr/>
        <p:txBody>
          <a:bodyPr/>
          <a:lstStyle/>
          <a:p>
            <a:r>
              <a:rPr lang="en-US" altLang="ko-KR" dirty="0"/>
              <a:t>01</a:t>
            </a:r>
            <a:endParaRPr lang="ko-KR" altLang="en-US" dirty="0"/>
          </a:p>
        </p:txBody>
      </p:sp>
      <p:sp>
        <p:nvSpPr>
          <p:cNvPr id="6" name="텍스트 개체 틀 5">
            <a:extLst>
              <a:ext uri="{FF2B5EF4-FFF2-40B4-BE49-F238E27FC236}">
                <a16:creationId xmlns="" xmlns:a16="http://schemas.microsoft.com/office/drawing/2014/main" id="{F17A5E5A-66EE-42B7-A47B-38D82A9818DC}"/>
              </a:ext>
            </a:extLst>
          </p:cNvPr>
          <p:cNvSpPr>
            <a:spLocks noGrp="1"/>
          </p:cNvSpPr>
          <p:nvPr>
            <p:ph type="body" sz="quarter" idx="13"/>
          </p:nvPr>
        </p:nvSpPr>
        <p:spPr/>
        <p:txBody>
          <a:bodyPr/>
          <a:lstStyle/>
          <a:p>
            <a:r>
              <a:rPr lang="en-US" altLang="ko-KR" dirty="0"/>
              <a:t>UNIT</a:t>
            </a:r>
            <a:endParaRPr lang="ko-KR" altLang="en-US" dirty="0"/>
          </a:p>
        </p:txBody>
      </p:sp>
      <p:sp>
        <p:nvSpPr>
          <p:cNvPr id="7" name="텍스트 개체 틀 6">
            <a:extLst>
              <a:ext uri="{FF2B5EF4-FFF2-40B4-BE49-F238E27FC236}">
                <a16:creationId xmlns="" xmlns:a16="http://schemas.microsoft.com/office/drawing/2014/main" id="{5D7BE4A2-6816-4C15-8CC8-6EEF7E4F9A24}"/>
              </a:ext>
            </a:extLst>
          </p:cNvPr>
          <p:cNvSpPr>
            <a:spLocks noGrp="1"/>
          </p:cNvSpPr>
          <p:nvPr>
            <p:ph type="body" sz="quarter" idx="15"/>
          </p:nvPr>
        </p:nvSpPr>
        <p:spPr>
          <a:xfrm>
            <a:off x="522288" y="2221661"/>
            <a:ext cx="8055439" cy="2377440"/>
          </a:xfrm>
        </p:spPr>
        <p:txBody>
          <a:bodyPr wrap="square"/>
          <a:lstStyle/>
          <a:p>
            <a:r>
              <a:rPr lang="en-US" altLang="ko-KR" dirty="0" smtClean="0" sz="1500"/>
              <a:t>Ký — team lead, integration and testing; Bằng — Kafka ingestion and replay producer; Dẳm — streaming job, watermark, fault tolerance.</a:t>
            </a:r>
            <a:endParaRPr lang="en-US" altLang="ko-KR" dirty="0"/>
          </a:p>
          <a:p>
            <a:r>
              <a:rPr lang="en-US" altLang="ko-KR" dirty="0" smtClean="0" sz="1500"/>
              <a:t>Hạnh — data preparation and the Spark ML model; Nguyên — SQL queries, figures and the Streamlit dashboard with alerts.</a:t>
            </a:r>
            <a:endParaRPr lang="en-US" altLang="ko-KR" dirty="0"/>
          </a:p>
          <a:p>
            <a:r>
              <a:rPr lang="en-US" altLang="ko-KR" dirty="0" smtClean="0" sz="1500"/>
              <a:t>Phase 1 (Day 1–5) — planning: action plan, WBS, topic framing, and this proposal.</a:t>
            </a:r>
            <a:endParaRPr lang="en-US" altLang="ko-KR" dirty="0"/>
          </a:p>
          <a:p>
            <a:r>
              <a:rPr lang="en-US" altLang="ko-KR" dirty="0" smtClean="0" sz="1500"/>
              <a:t>Phase 2 (Day 6–11) — prototype: Kafka plus streaming, model trained, dashboard, prototype showing.</a:t>
            </a:r>
            <a:endParaRPr lang="en-US" altLang="ko-KR" dirty="0"/>
          </a:p>
          <a:p>
            <a:r>
              <a:rPr lang="en-US" altLang="ko-KR" dirty="0" smtClean="0" sz="1500"/>
              <a:t>Phase 3 (Day 12–20) — refinement: benchmarks, fault-tolerance tests, tuning, final report and presentation. WBS reviewed on Day 9, 14 and 19.</a:t>
            </a:r>
            <a:endParaRPr lang="en-US" altLang="ko-KR" dirty="0"/>
          </a:p>
        </p:txBody>
      </p:sp>
    </p:spTree>
  </p:cSld>
  <p:clrMapOvr>
    <a:masterClrMapping/>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amsung">
      <a:majorFont>
        <a:latin typeface="Samsung Sharp Sans"/>
        <a:ea typeface="SamsungOneKorean 700"/>
        <a:cs typeface=""/>
      </a:majorFont>
      <a:minorFont>
        <a:latin typeface="SamsungOne 400"/>
        <a:ea typeface="SamsungOneKorean 400"/>
        <a:cs typeface=""/>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B971F96850C604FA9DD4A6FAA1D7E94" ma:contentTypeVersion="13" ma:contentTypeDescription="Create a new document." ma:contentTypeScope="" ma:versionID="94bb0226509be2894c83196f814f5ace">
  <xsd:schema xmlns:xsd="http://www.w3.org/2001/XMLSchema" xmlns:xs="http://www.w3.org/2001/XMLSchema" xmlns:p="http://schemas.microsoft.com/office/2006/metadata/properties" xmlns:ns2="5192ee0d-e524-4888-b581-1910cadcd210" xmlns:ns3="525df02f-3aee-47af-b2f3-c2ea8bcae9a6" targetNamespace="http://schemas.microsoft.com/office/2006/metadata/properties" ma:root="true" ma:fieldsID="eb19b1b986ba2b37eb36a9dd005ffe1c" ns2:_="" ns3:_="">
    <xsd:import namespace="5192ee0d-e524-4888-b581-1910cadcd210"/>
    <xsd:import namespace="525df02f-3aee-47af-b2f3-c2ea8bcae9a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BillingMetadata" minOccurs="0"/>
                <xsd:element ref="ns2:MediaServiceOCR"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92ee0d-e524-4888-b581-1910cadcd2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3ef62f9-2e07-484b-bd79-00aec90129fe" ma:termSetId="09814cd3-568e-fe90-9814-8d621ff8fb84" ma:anchorId="fba54fb3-c3e1-fe81-a776-ca4b69148c4d" ma:open="true" ma:isKeyword="false">
      <xsd:complexType>
        <xsd:sequence>
          <xsd:element ref="pc:Terms" minOccurs="0" maxOccurs="1"/>
        </xsd:sequence>
      </xsd:complex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OCR" ma:index="19" nillable="true" ma:displayName="Extracted Text" ma:internalName="MediaServiceOCR" ma:readOnly="true">
      <xsd:simpleType>
        <xsd:restriction base="dms:Note">
          <xsd:maxLength value="255"/>
        </xsd:restriction>
      </xsd:simpleType>
    </xsd:element>
    <xsd:element name="comment" ma:index="20" nillable="true" ma:displayName="comment" ma:format="Dropdown" ma:internalName="comm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25df02f-3aee-47af-b2f3-c2ea8bcae9a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f2df0d5-6bdf-4400-9605-4c2d2eede7e4}" ma:internalName="TaxCatchAll" ma:showField="CatchAllData" ma:web="525df02f-3aee-47af-b2f3-c2ea8bcae9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25df02f-3aee-47af-b2f3-c2ea8bcae9a6" xsi:nil="true"/>
    <comment xmlns="5192ee0d-e524-4888-b581-1910cadcd210" xsi:nil="true"/>
    <lcf76f155ced4ddcb4097134ff3c332f xmlns="5192ee0d-e524-4888-b581-1910cadcd21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C053C22-0F44-4F14-81EF-0353392FB0C9}"/>
</file>

<file path=customXml/itemProps2.xml><?xml version="1.0" encoding="utf-8"?>
<ds:datastoreItem xmlns:ds="http://schemas.openxmlformats.org/officeDocument/2006/customXml" ds:itemID="{3C5CFE83-8430-42B3-84D0-F25FE4928CDB}"/>
</file>

<file path=customXml/itemProps3.xml><?xml version="1.0" encoding="utf-8"?>
<ds:datastoreItem xmlns:ds="http://schemas.openxmlformats.org/officeDocument/2006/customXml" ds:itemID="{41C32D92-5138-4E75-A62C-330CAF90EF1A}"/>
</file>

<file path=docProps/app.xml><?xml version="1.0" encoding="utf-8"?>
<Properties xmlns="http://schemas.openxmlformats.org/officeDocument/2006/extended-properties" xmlns:vt="http://schemas.openxmlformats.org/officeDocument/2006/docPropsVTypes">
  <Template/>
  <TotalTime>4278</TotalTime>
  <Words>63</Words>
  <Application>Microsoft Office PowerPoint</Application>
  <PresentationFormat>사용자 지정</PresentationFormat>
  <Paragraphs>23</Paragraphs>
  <Slides>4</Slides>
  <Notes>0</Notes>
  <HiddenSlides>0</HiddenSlides>
  <MMClips>0</MMClips>
  <ScaleCrop>false</ScaleCrop>
  <HeadingPairs>
    <vt:vector size="6" baseType="variant">
      <vt:variant>
        <vt:lpstr>사용한 글꼴</vt:lpstr>
      </vt:variant>
      <vt:variant>
        <vt:i4>11</vt:i4>
      </vt:variant>
      <vt:variant>
        <vt:lpstr>테마</vt:lpstr>
      </vt:variant>
      <vt:variant>
        <vt:i4>1</vt:i4>
      </vt:variant>
      <vt:variant>
        <vt:lpstr>슬라이드 제목</vt:lpstr>
      </vt:variant>
      <vt:variant>
        <vt:i4>4</vt:i4>
      </vt:variant>
    </vt:vector>
  </HeadingPairs>
  <TitlesOfParts>
    <vt:vector size="16" baseType="lpstr">
      <vt:lpstr>Samsung Sharp Sans Bold</vt:lpstr>
      <vt:lpstr>Samsung Sharp Sans</vt:lpstr>
      <vt:lpstr>SamsungOneKorean 400</vt:lpstr>
      <vt:lpstr>Arial</vt:lpstr>
      <vt:lpstr>맑은 고딕</vt:lpstr>
      <vt:lpstr>SamsungOne 700</vt:lpstr>
      <vt:lpstr>SamsungOne 400C</vt:lpstr>
      <vt:lpstr>Samsung Sharp Sans Medium</vt:lpstr>
      <vt:lpstr>Calibri</vt:lpstr>
      <vt:lpstr>SamsungOne 400</vt:lpstr>
      <vt:lpstr>Arial Unicode MS</vt:lpstr>
      <vt:lpstr>Office Theme</vt:lpstr>
      <vt:lpstr>Project Name</vt:lpstr>
      <vt:lpstr>PowerPoint 프레젠테이션</vt:lpstr>
      <vt:lpstr>Slide Title</vt:lpstr>
      <vt:lpstr>PowerPoint 프레젠테이션</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in Python</dc:title>
  <dc:creator>Soon Yong Chang</dc:creator>
  <cp:lastModifiedBy>Soomin Kim</cp:lastModifiedBy>
  <cp:revision>2077</cp:revision>
  <dcterms:created xsi:type="dcterms:W3CDTF">2019-07-06T14:12:49Z</dcterms:created>
  <dcterms:modified xsi:type="dcterms:W3CDTF">2023-09-04T22:55:03Z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0x010100EB971F96850C604FA9DD4A6FAA1D7E94</vt:lpwstr>
  </property>
</Properties>
</file>